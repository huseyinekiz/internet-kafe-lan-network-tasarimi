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 id="262" r:id="rId11"/>
    <p:sldId id="263" r:id="rId12"/>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11" Type="http://schemas.openxmlformats.org/officeDocument/2006/relationships/slide" Target="slides/slide7.xml"/><Relationship Id="rId10" Type="http://schemas.openxmlformats.org/officeDocument/2006/relationships/slide" Target="slides/slide6.xml"/><Relationship Id="rId12" Type="http://schemas.openxmlformats.org/officeDocument/2006/relationships/slide" Target="slides/slide8.xml"/><Relationship Id="rId9" Type="http://schemas.openxmlformats.org/officeDocument/2006/relationships/slide" Target="slides/slide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latin typeface="Arial"/>
                <a:ea typeface="Arial"/>
                <a:cs typeface="Arial"/>
                <a:sym typeface="Arial"/>
              </a:rPr>
              <a:t>Merhaba, ben Hüseyin Ekiz, takım arkadaşım Cem Anıl Erdem. BLM2006 Bilgisayar Ağlarına Giriş dersi kapsamında hazırladığımız bu projede, gerçek bir internet kafe senaryosu için Cisco Packet Tracer ortamında eksiksiz bir LAN ağ tasarımı gerçekleştirdik</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 name="Shape 27"/>
        <p:cNvGrpSpPr/>
        <p:nvPr/>
      </p:nvGrpSpPr>
      <p:grpSpPr>
        <a:xfrm>
          <a:off x="0" y="0"/>
          <a:ext cx="0" cy="0"/>
          <a:chOff x="0" y="0"/>
          <a:chExt cx="0" cy="0"/>
        </a:xfrm>
      </p:grpSpPr>
      <p:sp>
        <p:nvSpPr>
          <p:cNvPr id="28" name="Google Shape;28;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 name="Google Shape;29;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latin typeface="Arial"/>
                <a:ea typeface="Arial"/>
                <a:cs typeface="Arial"/>
                <a:sym typeface="Arial"/>
              </a:rPr>
              <a:t>Sunumumuzda sırasıyla şu başlıklara değineceğiz: </a:t>
            </a:r>
            <a:endParaRPr>
              <a:latin typeface="Arial"/>
              <a:ea typeface="Arial"/>
              <a:cs typeface="Arial"/>
              <a:sym typeface="Arial"/>
            </a:endParaRPr>
          </a:p>
          <a:p>
            <a:pPr indent="-317500" lvl="0" marL="457200" rtl="0" algn="l">
              <a:spcBef>
                <a:spcPts val="0"/>
              </a:spcBef>
              <a:spcAft>
                <a:spcPts val="0"/>
              </a:spcAft>
              <a:buSzPts val="1400"/>
              <a:buFont typeface="Arial"/>
              <a:buChar char="-"/>
            </a:pPr>
            <a:r>
              <a:rPr lang="en-US">
                <a:latin typeface="Arial"/>
                <a:ea typeface="Arial"/>
                <a:cs typeface="Arial"/>
                <a:sym typeface="Arial"/>
              </a:rPr>
              <a:t>Projenin kapsamı ve hedeflerini, </a:t>
            </a:r>
            <a:endParaRPr>
              <a:latin typeface="Arial"/>
              <a:ea typeface="Arial"/>
              <a:cs typeface="Arial"/>
              <a:sym typeface="Arial"/>
            </a:endParaRPr>
          </a:p>
          <a:p>
            <a:pPr indent="-317500" lvl="0" marL="457200" rtl="0" algn="l">
              <a:spcBef>
                <a:spcPts val="0"/>
              </a:spcBef>
              <a:spcAft>
                <a:spcPts val="0"/>
              </a:spcAft>
              <a:buSzPts val="1400"/>
              <a:buFont typeface="Arial"/>
              <a:buChar char="-"/>
            </a:pPr>
            <a:r>
              <a:rPr lang="en-US">
                <a:latin typeface="Arial"/>
                <a:ea typeface="Arial"/>
                <a:cs typeface="Arial"/>
                <a:sym typeface="Arial"/>
              </a:rPr>
              <a:t>kullandığımız teknolojileri, </a:t>
            </a:r>
            <a:endParaRPr>
              <a:latin typeface="Arial"/>
              <a:ea typeface="Arial"/>
              <a:cs typeface="Arial"/>
              <a:sym typeface="Arial"/>
            </a:endParaRPr>
          </a:p>
          <a:p>
            <a:pPr indent="-317500" lvl="0" marL="457200" rtl="0" algn="l">
              <a:spcBef>
                <a:spcPts val="0"/>
              </a:spcBef>
              <a:spcAft>
                <a:spcPts val="0"/>
              </a:spcAft>
              <a:buSzPts val="1400"/>
              <a:buFont typeface="Arial"/>
              <a:buChar char="-"/>
            </a:pPr>
            <a:r>
              <a:rPr lang="en-US">
                <a:latin typeface="Arial"/>
                <a:ea typeface="Arial"/>
                <a:cs typeface="Arial"/>
                <a:sym typeface="Arial"/>
              </a:rPr>
              <a:t>ağ tasarım aşamalarını, </a:t>
            </a:r>
            <a:endParaRPr>
              <a:latin typeface="Arial"/>
              <a:ea typeface="Arial"/>
              <a:cs typeface="Arial"/>
              <a:sym typeface="Arial"/>
            </a:endParaRPr>
          </a:p>
          <a:p>
            <a:pPr indent="-317500" lvl="0" marL="457200" rtl="0" algn="l">
              <a:spcBef>
                <a:spcPts val="0"/>
              </a:spcBef>
              <a:spcAft>
                <a:spcPts val="0"/>
              </a:spcAft>
              <a:buSzPts val="1400"/>
              <a:buFont typeface="Arial"/>
              <a:buChar char="-"/>
            </a:pPr>
            <a:r>
              <a:rPr lang="en-US">
                <a:latin typeface="Arial"/>
                <a:ea typeface="Arial"/>
                <a:cs typeface="Arial"/>
                <a:sym typeface="Arial"/>
              </a:rPr>
              <a:t>VLAN yapılandırmamızı, </a:t>
            </a:r>
            <a:endParaRPr>
              <a:latin typeface="Arial"/>
              <a:ea typeface="Arial"/>
              <a:cs typeface="Arial"/>
              <a:sym typeface="Arial"/>
            </a:endParaRPr>
          </a:p>
          <a:p>
            <a:pPr indent="-317500" lvl="0" marL="457200" rtl="0" algn="l">
              <a:spcBef>
                <a:spcPts val="0"/>
              </a:spcBef>
              <a:spcAft>
                <a:spcPts val="0"/>
              </a:spcAft>
              <a:buSzPts val="1400"/>
              <a:buFont typeface="Arial"/>
              <a:buChar char="-"/>
            </a:pPr>
            <a:r>
              <a:rPr lang="en-US">
                <a:latin typeface="Arial"/>
                <a:ea typeface="Arial"/>
                <a:cs typeface="Arial"/>
                <a:sym typeface="Arial"/>
              </a:rPr>
              <a:t>Wi-Fi desteğini </a:t>
            </a:r>
            <a:endParaRPr>
              <a:latin typeface="Arial"/>
              <a:ea typeface="Arial"/>
              <a:cs typeface="Arial"/>
              <a:sym typeface="Arial"/>
            </a:endParaRPr>
          </a:p>
          <a:p>
            <a:pPr indent="-317500" lvl="0" marL="457200" rtl="0" algn="l">
              <a:spcBef>
                <a:spcPts val="0"/>
              </a:spcBef>
              <a:spcAft>
                <a:spcPts val="0"/>
              </a:spcAft>
              <a:buSzPts val="1400"/>
              <a:buFont typeface="Arial"/>
              <a:buChar char="-"/>
            </a:pPr>
            <a:r>
              <a:rPr lang="en-US">
                <a:latin typeface="Arial"/>
                <a:ea typeface="Arial"/>
                <a:cs typeface="Arial"/>
                <a:sym typeface="Arial"/>
              </a:rPr>
              <a:t>ve son olarak elde ettiğimiz sonuçları paylaşacağız</a:t>
            </a:r>
            <a:endParaRPr/>
          </a:p>
        </p:txBody>
      </p:sp>
      <p:sp>
        <p:nvSpPr>
          <p:cNvPr id="30" name="Google Shape;30;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 name="Shape 53"/>
        <p:cNvGrpSpPr/>
        <p:nvPr/>
      </p:nvGrpSpPr>
      <p:grpSpPr>
        <a:xfrm>
          <a:off x="0" y="0"/>
          <a:ext cx="0" cy="0"/>
          <a:chOff x="0" y="0"/>
          <a:chExt cx="0" cy="0"/>
        </a:xfrm>
      </p:grpSpPr>
      <p:sp>
        <p:nvSpPr>
          <p:cNvPr id="54" name="Google Shape;5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 name="Google Shape;55;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latin typeface="Arial"/>
                <a:ea typeface="Arial"/>
                <a:cs typeface="Arial"/>
                <a:sym typeface="Arial"/>
              </a:rPr>
              <a:t>Bir internet kafede onlarca kullanıcı aynı anda ağa bağlanmaktadır. Geleneksel düz ağ mimarilerinde bu durum, yayın fırtınaları ve ciddi güvenlik açıklarına yol açar. Biz bu sorunu çözmek için VLAN tabanlı segmentasyon ve kablosuz erişim noktalarını bir arada kullanan kapsamlı bir LAN mimarisi tasarladık. Temel hedefimiz; ağı mantıksal olarak bölmek ve mobil kullanıcılara da kesintisiz erişim sağlamaktı</a:t>
            </a:r>
            <a:endParaRPr/>
          </a:p>
        </p:txBody>
      </p:sp>
      <p:sp>
        <p:nvSpPr>
          <p:cNvPr id="56" name="Google Shape;56;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 name="Google Shape;73;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latin typeface="Arial"/>
                <a:ea typeface="Arial"/>
                <a:cs typeface="Arial"/>
                <a:sym typeface="Arial"/>
              </a:rPr>
              <a:t>Projede üç temel teknolojiyi kullandık. Birincisi Cisco Packet Tracer — tüm ağ topolojisini simüle ettiğimiz ve test ettiğimiz araç. İkincisi VLAN, yani 802.1Q standardı — ağı mantıksal segmentlere ayırmak ve yayın alanlarını kontrol altında tutmak için. Üçüncüsü ise 802.11 Wi-Fi standardı — kablosuz istemci erişimini sağlamak için. Bu üç teknoloji bir arada kurumsal düzeyde bir altyapı oluşturmamıza olanak tanıdı</a:t>
            </a:r>
            <a:endParaRPr/>
          </a:p>
        </p:txBody>
      </p:sp>
      <p:sp>
        <p:nvSpPr>
          <p:cNvPr id="74" name="Google Shape;74;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9" name="Google Shape;99;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latin typeface="Arial"/>
                <a:ea typeface="Arial"/>
                <a:cs typeface="Arial"/>
                <a:sym typeface="Arial"/>
              </a:rPr>
              <a:t>Tasarımı üç aşamada tamamladık. İlk aşamada müşteri, personel ve yönetim olmak üzere üç kullanıcı kategorisi belirledik ve her biri için ayrı güvenlik politikaları tanımladık. İkinci aşamada iki katmanlı bir ağ modeli benimsedik: Dağıtım katmanında yönlendirici ve anahtarlar, erişim katmanında ise uç cihazlara bağlı katman-2 anahtarlar yer aldı. Üçüncü ve son aşamada tüm cihazları Packet Tracer'da konfigüre ederek ping testleri ve simülasyon moduyla bağlantıları doğruladık</a:t>
            </a:r>
            <a:endParaRPr/>
          </a:p>
        </p:txBody>
      </p:sp>
      <p:sp>
        <p:nvSpPr>
          <p:cNvPr id="100" name="Google Shape;100;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1" name="Google Shape;121;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latin typeface="Arial"/>
                <a:ea typeface="Arial"/>
                <a:cs typeface="Arial"/>
                <a:sym typeface="Arial"/>
              </a:rPr>
              <a:t>Ağı dört VLAN'a ayırdık. VLAN 20 personel bilgisayarları için, VLAN 30 müşteri bilgisayarları için, VLAN 40 DNS, DHCP ve Web sunucularının bulunduğu sunucu odası için, VLAN 50 ise misafir Wi-Fi erişimi için ayrıldı. Topoloji görselinde de görebileceğiniz gibi her VLAN farklı renk bloklarıyla temsil edilmektedir. Anahtarlar ile yönlendirici arasında 802.1Q trunk bağlantılar yapılandırılarak her VLAN kendi yayın alanında izole edildi</a:t>
            </a:r>
            <a:endParaRPr/>
          </a:p>
        </p:txBody>
      </p:sp>
      <p:sp>
        <p:nvSpPr>
          <p:cNvPr id="122" name="Google Shape;122;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8" name="Google Shape;178;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latin typeface="Arial"/>
                <a:ea typeface="Arial"/>
                <a:cs typeface="Arial"/>
                <a:sym typeface="Arial"/>
              </a:rPr>
              <a:t>Müşteri salonu, bekleme köşesi ve giriş alanlarına kablosuz erişim noktaları yerleştirdik. Her erişim noktası kendi VLAN'ına trunk bağlantı üzerinden bağlanıyor. Personel için WPA2 şifreli KampusNet_Personel, müşteriler için WPA2 şifreli KampusNet_Musteri, misafirler için ise kısıtlı erişimli açık ağ olan KampusNet_Misafir SSID'lerini tanımladık. Böylece her kullanıcı grubu yalnızca kendi ağ segmentine erişebilmektedir</a:t>
            </a:r>
            <a:endParaRPr/>
          </a:p>
        </p:txBody>
      </p:sp>
      <p:sp>
        <p:nvSpPr>
          <p:cNvPr id="179" name="Google Shape;179;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0" name="Google Shape;200;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latin typeface="Arial"/>
                <a:ea typeface="Arial"/>
                <a:cs typeface="Arial"/>
                <a:sym typeface="Arial"/>
              </a:rPr>
              <a:t>Özetle, bu proje kapsamında dört farklı kullanıcı grubunu mantıksal olarak izole eden bir VLAN yapısı kurduk ve mobil kullanıcılara kablosuz erişim sağladık. Tüm tasarım Cisco Packet Tracer'da başarıyla simüle edildi ve doğrulandı. Projenin kaynak kodlarına ve Packet Tracer dosyasına GitHub üzerinden ulaşabilirsiniz. Dinlediğiniz için teşekkür ederiz, sorularınızı alabiliriz</a:t>
            </a:r>
            <a:endParaRPr/>
          </a:p>
        </p:txBody>
      </p:sp>
      <p:sp>
        <p:nvSpPr>
          <p:cNvPr id="201" name="Google Shape;201;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628"/>
        </a:solidFill>
      </p:bgPr>
    </p:bg>
    <p:spTree>
      <p:nvGrpSpPr>
        <p:cNvPr id="15" name="Shape 15"/>
        <p:cNvGrpSpPr/>
        <p:nvPr/>
      </p:nvGrpSpPr>
      <p:grpSpPr>
        <a:xfrm>
          <a:off x="0" y="0"/>
          <a:ext cx="0" cy="0"/>
          <a:chOff x="0" y="0"/>
          <a:chExt cx="0" cy="0"/>
        </a:xfrm>
      </p:grpSpPr>
      <p:sp>
        <p:nvSpPr>
          <p:cNvPr id="16" name="Google Shape;16;p3"/>
          <p:cNvSpPr/>
          <p:nvPr/>
        </p:nvSpPr>
        <p:spPr>
          <a:xfrm>
            <a:off x="0" y="0"/>
            <a:ext cx="109728" cy="5143500"/>
          </a:xfrm>
          <a:prstGeom prst="rect">
            <a:avLst/>
          </a:prstGeom>
          <a:solidFill>
            <a:srgbClr val="00D4FF"/>
          </a:solidFill>
          <a:ln cap="flat" cmpd="sng" w="12700">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3"/>
          <p:cNvSpPr/>
          <p:nvPr/>
        </p:nvSpPr>
        <p:spPr>
          <a:xfrm>
            <a:off x="109728" y="548640"/>
            <a:ext cx="9034272" cy="36576"/>
          </a:xfrm>
          <a:prstGeom prst="rect">
            <a:avLst/>
          </a:prstGeom>
          <a:solidFill>
            <a:srgbClr val="0088CC"/>
          </a:solidFill>
          <a:ln cap="flat" cmpd="sng" w="12700">
            <a:solidFill>
              <a:srgbClr val="0088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3"/>
          <p:cNvSpPr/>
          <p:nvPr/>
        </p:nvSpPr>
        <p:spPr>
          <a:xfrm>
            <a:off x="365760" y="777240"/>
            <a:ext cx="2011680" cy="320040"/>
          </a:xfrm>
          <a:prstGeom prst="rect">
            <a:avLst/>
          </a:prstGeom>
          <a:solidFill>
            <a:srgbClr val="0088CC"/>
          </a:solidFill>
          <a:ln cap="flat" cmpd="sng" w="12700">
            <a:solidFill>
              <a:srgbClr val="0088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3"/>
          <p:cNvSpPr/>
          <p:nvPr/>
        </p:nvSpPr>
        <p:spPr>
          <a:xfrm>
            <a:off x="365760" y="777240"/>
            <a:ext cx="201168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BLM2006</a:t>
            </a:r>
            <a:endParaRPr b="0" i="0" sz="1200" u="none" cap="none" strike="noStrike">
              <a:solidFill>
                <a:schemeClr val="dk1"/>
              </a:solidFill>
              <a:latin typeface="Calibri"/>
              <a:ea typeface="Calibri"/>
              <a:cs typeface="Calibri"/>
              <a:sym typeface="Calibri"/>
            </a:endParaRPr>
          </a:p>
        </p:txBody>
      </p:sp>
      <p:sp>
        <p:nvSpPr>
          <p:cNvPr id="20" name="Google Shape;20;p3"/>
          <p:cNvSpPr/>
          <p:nvPr/>
        </p:nvSpPr>
        <p:spPr>
          <a:xfrm>
            <a:off x="365760" y="1234440"/>
            <a:ext cx="6400800" cy="7315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4200"/>
              <a:buFont typeface="Calibri"/>
              <a:buNone/>
            </a:pPr>
            <a:r>
              <a:rPr b="1" i="0" lang="en-US" sz="4200" u="none" cap="none" strike="noStrike">
                <a:solidFill>
                  <a:srgbClr val="FFFFFF"/>
                </a:solidFill>
                <a:latin typeface="Calibri"/>
                <a:ea typeface="Calibri"/>
                <a:cs typeface="Calibri"/>
                <a:sym typeface="Calibri"/>
              </a:rPr>
              <a:t>İnternet Kafe</a:t>
            </a:r>
            <a:endParaRPr b="0" i="0" sz="4200" u="none" cap="none" strike="noStrike">
              <a:solidFill>
                <a:schemeClr val="dk1"/>
              </a:solidFill>
              <a:latin typeface="Calibri"/>
              <a:ea typeface="Calibri"/>
              <a:cs typeface="Calibri"/>
              <a:sym typeface="Calibri"/>
            </a:endParaRPr>
          </a:p>
        </p:txBody>
      </p:sp>
      <p:sp>
        <p:nvSpPr>
          <p:cNvPr id="21" name="Google Shape;21;p3"/>
          <p:cNvSpPr/>
          <p:nvPr/>
        </p:nvSpPr>
        <p:spPr>
          <a:xfrm>
            <a:off x="365760" y="1874520"/>
            <a:ext cx="64008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D4FF"/>
              </a:buClr>
              <a:buSzPts val="3800"/>
              <a:buFont typeface="Calibri"/>
              <a:buNone/>
            </a:pPr>
            <a:r>
              <a:rPr b="1" i="0" lang="en-US" sz="3800" u="none" cap="none" strike="noStrike">
                <a:solidFill>
                  <a:srgbClr val="00D4FF"/>
                </a:solidFill>
                <a:latin typeface="Calibri"/>
                <a:ea typeface="Calibri"/>
                <a:cs typeface="Calibri"/>
                <a:sym typeface="Calibri"/>
              </a:rPr>
              <a:t>LAN Ağ Tasarımı</a:t>
            </a:r>
            <a:endParaRPr b="0" i="0" sz="3800" u="none" cap="none" strike="noStrike">
              <a:solidFill>
                <a:schemeClr val="dk1"/>
              </a:solidFill>
              <a:latin typeface="Calibri"/>
              <a:ea typeface="Calibri"/>
              <a:cs typeface="Calibri"/>
              <a:sym typeface="Calibri"/>
            </a:endParaRPr>
          </a:p>
        </p:txBody>
      </p:sp>
      <p:sp>
        <p:nvSpPr>
          <p:cNvPr id="22" name="Google Shape;22;p3"/>
          <p:cNvSpPr/>
          <p:nvPr/>
        </p:nvSpPr>
        <p:spPr>
          <a:xfrm>
            <a:off x="365760" y="2606040"/>
            <a:ext cx="4114800" cy="36576"/>
          </a:xfrm>
          <a:prstGeom prst="rect">
            <a:avLst/>
          </a:prstGeom>
          <a:solidFill>
            <a:srgbClr val="00D4FF"/>
          </a:solidFill>
          <a:ln cap="flat" cmpd="sng" w="12700">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a:off x="365760" y="2834640"/>
            <a:ext cx="54864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Huseyin Ekiz  </a:t>
            </a:r>
            <a:r>
              <a:rPr b="0" i="0" lang="en-US" sz="1400" u="none" cap="none" strike="noStrike">
                <a:solidFill>
                  <a:srgbClr val="B0C4D8"/>
                </a:solidFill>
                <a:latin typeface="Calibri"/>
                <a:ea typeface="Calibri"/>
                <a:cs typeface="Calibri"/>
                <a:sym typeface="Calibri"/>
              </a:rPr>
              <a:t>170424051</a:t>
            </a:r>
            <a:endParaRPr b="0" i="0" sz="1400" u="none" cap="none" strike="noStrike">
              <a:solidFill>
                <a:schemeClr val="dk1"/>
              </a:solidFill>
              <a:latin typeface="Calibri"/>
              <a:ea typeface="Calibri"/>
              <a:cs typeface="Calibri"/>
              <a:sym typeface="Calibri"/>
            </a:endParaRPr>
          </a:p>
        </p:txBody>
      </p:sp>
      <p:sp>
        <p:nvSpPr>
          <p:cNvPr id="24" name="Google Shape;24;p3"/>
          <p:cNvSpPr/>
          <p:nvPr/>
        </p:nvSpPr>
        <p:spPr>
          <a:xfrm>
            <a:off x="365760" y="3154680"/>
            <a:ext cx="54864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Cem Anil Erdem  </a:t>
            </a:r>
            <a:r>
              <a:rPr b="0" i="0" lang="en-US" sz="1400" u="none" cap="none" strike="noStrike">
                <a:solidFill>
                  <a:srgbClr val="B0C4D8"/>
                </a:solidFill>
                <a:latin typeface="Calibri"/>
                <a:ea typeface="Calibri"/>
                <a:cs typeface="Calibri"/>
                <a:sym typeface="Calibri"/>
              </a:rPr>
              <a:t>170424041</a:t>
            </a:r>
            <a:endParaRPr b="0" i="0" sz="1400" u="none" cap="none" strike="noStrike">
              <a:solidFill>
                <a:schemeClr val="dk1"/>
              </a:solidFill>
              <a:latin typeface="Calibri"/>
              <a:ea typeface="Calibri"/>
              <a:cs typeface="Calibri"/>
              <a:sym typeface="Calibri"/>
            </a:endParaRPr>
          </a:p>
        </p:txBody>
      </p:sp>
      <p:sp>
        <p:nvSpPr>
          <p:cNvPr id="25" name="Google Shape;25;p3"/>
          <p:cNvSpPr/>
          <p:nvPr/>
        </p:nvSpPr>
        <p:spPr>
          <a:xfrm>
            <a:off x="365760" y="3611880"/>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0C4D8"/>
              </a:buClr>
              <a:buSzPts val="1200"/>
              <a:buFont typeface="Calibri"/>
              <a:buNone/>
            </a:pPr>
            <a:r>
              <a:rPr b="0" i="0" lang="en-US" sz="1200" u="none" cap="none" strike="noStrike">
                <a:solidFill>
                  <a:srgbClr val="B0C4D8"/>
                </a:solidFill>
                <a:latin typeface="Calibri"/>
                <a:ea typeface="Calibri"/>
                <a:cs typeface="Calibri"/>
                <a:sym typeface="Calibri"/>
              </a:rPr>
              <a:t>Mayıs 2026  ·  Cisco Packet Tracer</a:t>
            </a:r>
            <a:endParaRPr b="0" i="0" sz="1200" u="none" cap="none" strike="noStrike">
              <a:solidFill>
                <a:schemeClr val="dk1"/>
              </a:solidFill>
              <a:latin typeface="Calibri"/>
              <a:ea typeface="Calibri"/>
              <a:cs typeface="Calibri"/>
              <a:sym typeface="Calibri"/>
            </a:endParaRPr>
          </a:p>
        </p:txBody>
      </p:sp>
      <p:sp>
        <p:nvSpPr>
          <p:cNvPr id="26" name="Google Shape;26;p3"/>
          <p:cNvSpPr/>
          <p:nvPr/>
        </p:nvSpPr>
        <p:spPr>
          <a:xfrm>
            <a:off x="365760" y="3931920"/>
            <a:ext cx="4572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0C4D8"/>
              </a:buClr>
              <a:buSzPts val="1200"/>
              <a:buFont typeface="Calibri"/>
              <a:buNone/>
            </a:pPr>
            <a:r>
              <a:rPr b="0" i="1" lang="en-US" sz="1200" u="none" cap="none" strike="noStrike">
                <a:solidFill>
                  <a:srgbClr val="B0C4D8"/>
                </a:solidFill>
                <a:latin typeface="Calibri"/>
                <a:ea typeface="Calibri"/>
                <a:cs typeface="Calibri"/>
                <a:sym typeface="Calibri"/>
              </a:rPr>
              <a:t>Bilgisayar Ağlarına Giriş</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628"/>
        </a:solidFill>
      </p:bgPr>
    </p:bg>
    <p:spTree>
      <p:nvGrpSpPr>
        <p:cNvPr id="31" name="Shape 31"/>
        <p:cNvGrpSpPr/>
        <p:nvPr/>
      </p:nvGrpSpPr>
      <p:grpSpPr>
        <a:xfrm>
          <a:off x="0" y="0"/>
          <a:ext cx="0" cy="0"/>
          <a:chOff x="0" y="0"/>
          <a:chExt cx="0" cy="0"/>
        </a:xfrm>
      </p:grpSpPr>
      <p:sp>
        <p:nvSpPr>
          <p:cNvPr id="32" name="Google Shape;32;p4"/>
          <p:cNvSpPr/>
          <p:nvPr/>
        </p:nvSpPr>
        <p:spPr>
          <a:xfrm>
            <a:off x="0" y="0"/>
            <a:ext cx="109728" cy="5143500"/>
          </a:xfrm>
          <a:prstGeom prst="rect">
            <a:avLst/>
          </a:prstGeom>
          <a:solidFill>
            <a:srgbClr val="00D4FF"/>
          </a:solidFill>
          <a:ln cap="flat" cmpd="sng" w="12700">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4"/>
          <p:cNvSpPr/>
          <p:nvPr/>
        </p:nvSpPr>
        <p:spPr>
          <a:xfrm>
            <a:off x="365760" y="228600"/>
            <a:ext cx="841248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800"/>
              <a:buFont typeface="Calibri"/>
              <a:buNone/>
            </a:pPr>
            <a:r>
              <a:rPr b="1" i="0" lang="en-US" sz="2800" u="none" cap="none" strike="noStrike">
                <a:solidFill>
                  <a:srgbClr val="FFFFFF"/>
                </a:solidFill>
                <a:latin typeface="Calibri"/>
                <a:ea typeface="Calibri"/>
                <a:cs typeface="Calibri"/>
                <a:sym typeface="Calibri"/>
              </a:rPr>
              <a:t>İÇİNDEKİLER</a:t>
            </a:r>
            <a:endParaRPr b="0" i="0" sz="2800" u="none" cap="none" strike="noStrike">
              <a:solidFill>
                <a:schemeClr val="dk1"/>
              </a:solidFill>
              <a:latin typeface="Calibri"/>
              <a:ea typeface="Calibri"/>
              <a:cs typeface="Calibri"/>
              <a:sym typeface="Calibri"/>
            </a:endParaRPr>
          </a:p>
        </p:txBody>
      </p:sp>
      <p:sp>
        <p:nvSpPr>
          <p:cNvPr id="34" name="Google Shape;34;p4"/>
          <p:cNvSpPr/>
          <p:nvPr/>
        </p:nvSpPr>
        <p:spPr>
          <a:xfrm>
            <a:off x="365760" y="713232"/>
            <a:ext cx="8412480" cy="36576"/>
          </a:xfrm>
          <a:prstGeom prst="rect">
            <a:avLst/>
          </a:prstGeom>
          <a:solidFill>
            <a:srgbClr val="0088CC"/>
          </a:solidFill>
          <a:ln cap="flat" cmpd="sng" w="12700">
            <a:solidFill>
              <a:srgbClr val="0088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4"/>
          <p:cNvSpPr/>
          <p:nvPr/>
        </p:nvSpPr>
        <p:spPr>
          <a:xfrm>
            <a:off x="365760" y="960120"/>
            <a:ext cx="502920" cy="502920"/>
          </a:xfrm>
          <a:prstGeom prst="rect">
            <a:avLst/>
          </a:prstGeom>
          <a:solidFill>
            <a:srgbClr val="0088CC"/>
          </a:solidFill>
          <a:ln cap="flat" cmpd="sng" w="12700">
            <a:solidFill>
              <a:srgbClr val="0088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4"/>
          <p:cNvSpPr/>
          <p:nvPr/>
        </p:nvSpPr>
        <p:spPr>
          <a:xfrm>
            <a:off x="365760" y="96012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01</a:t>
            </a:r>
            <a:endParaRPr b="0" i="0" sz="1600" u="none" cap="none" strike="noStrike">
              <a:solidFill>
                <a:schemeClr val="dk1"/>
              </a:solidFill>
              <a:latin typeface="Calibri"/>
              <a:ea typeface="Calibri"/>
              <a:cs typeface="Calibri"/>
              <a:sym typeface="Calibri"/>
            </a:endParaRPr>
          </a:p>
        </p:txBody>
      </p:sp>
      <p:sp>
        <p:nvSpPr>
          <p:cNvPr id="37" name="Google Shape;37;p4"/>
          <p:cNvSpPr/>
          <p:nvPr/>
        </p:nvSpPr>
        <p:spPr>
          <a:xfrm>
            <a:off x="1005840" y="1005840"/>
            <a:ext cx="347472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400"/>
              <a:buFont typeface="Calibri"/>
              <a:buNone/>
            </a:pPr>
            <a:r>
              <a:rPr b="0" i="0" lang="en-US" sz="1400" u="none" cap="none" strike="noStrike">
                <a:solidFill>
                  <a:srgbClr val="FFFFFF"/>
                </a:solidFill>
                <a:latin typeface="Calibri"/>
                <a:ea typeface="Calibri"/>
                <a:cs typeface="Calibri"/>
                <a:sym typeface="Calibri"/>
              </a:rPr>
              <a:t>Proje Kapsamı ve Hedefler</a:t>
            </a:r>
            <a:endParaRPr b="0" i="0" sz="1400" u="none" cap="none" strike="noStrike">
              <a:solidFill>
                <a:schemeClr val="dk1"/>
              </a:solidFill>
              <a:latin typeface="Calibri"/>
              <a:ea typeface="Calibri"/>
              <a:cs typeface="Calibri"/>
              <a:sym typeface="Calibri"/>
            </a:endParaRPr>
          </a:p>
        </p:txBody>
      </p:sp>
      <p:sp>
        <p:nvSpPr>
          <p:cNvPr id="38" name="Google Shape;38;p4"/>
          <p:cNvSpPr/>
          <p:nvPr/>
        </p:nvSpPr>
        <p:spPr>
          <a:xfrm>
            <a:off x="365760" y="1920240"/>
            <a:ext cx="502920" cy="502920"/>
          </a:xfrm>
          <a:prstGeom prst="rect">
            <a:avLst/>
          </a:prstGeom>
          <a:solidFill>
            <a:srgbClr val="0088CC"/>
          </a:solidFill>
          <a:ln cap="flat" cmpd="sng" w="12700">
            <a:solidFill>
              <a:srgbClr val="0088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4"/>
          <p:cNvSpPr/>
          <p:nvPr/>
        </p:nvSpPr>
        <p:spPr>
          <a:xfrm>
            <a:off x="365760" y="192024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02</a:t>
            </a:r>
            <a:endParaRPr b="0" i="0" sz="1600" u="none" cap="none" strike="noStrike">
              <a:solidFill>
                <a:schemeClr val="dk1"/>
              </a:solidFill>
              <a:latin typeface="Calibri"/>
              <a:ea typeface="Calibri"/>
              <a:cs typeface="Calibri"/>
              <a:sym typeface="Calibri"/>
            </a:endParaRPr>
          </a:p>
        </p:txBody>
      </p:sp>
      <p:sp>
        <p:nvSpPr>
          <p:cNvPr id="40" name="Google Shape;40;p4"/>
          <p:cNvSpPr/>
          <p:nvPr/>
        </p:nvSpPr>
        <p:spPr>
          <a:xfrm>
            <a:off x="1005840" y="1965960"/>
            <a:ext cx="347472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400"/>
              <a:buFont typeface="Calibri"/>
              <a:buNone/>
            </a:pPr>
            <a:r>
              <a:rPr b="0" i="0" lang="en-US" sz="1400" u="none" cap="none" strike="noStrike">
                <a:solidFill>
                  <a:srgbClr val="FFFFFF"/>
                </a:solidFill>
                <a:latin typeface="Calibri"/>
                <a:ea typeface="Calibri"/>
                <a:cs typeface="Calibri"/>
                <a:sym typeface="Calibri"/>
              </a:rPr>
              <a:t>Kullanılan Teknolojiler</a:t>
            </a:r>
            <a:endParaRPr b="0" i="0" sz="1400" u="none" cap="none" strike="noStrike">
              <a:solidFill>
                <a:schemeClr val="dk1"/>
              </a:solidFill>
              <a:latin typeface="Calibri"/>
              <a:ea typeface="Calibri"/>
              <a:cs typeface="Calibri"/>
              <a:sym typeface="Calibri"/>
            </a:endParaRPr>
          </a:p>
        </p:txBody>
      </p:sp>
      <p:sp>
        <p:nvSpPr>
          <p:cNvPr id="41" name="Google Shape;41;p4"/>
          <p:cNvSpPr/>
          <p:nvPr/>
        </p:nvSpPr>
        <p:spPr>
          <a:xfrm>
            <a:off x="365760" y="2880360"/>
            <a:ext cx="502920" cy="502920"/>
          </a:xfrm>
          <a:prstGeom prst="rect">
            <a:avLst/>
          </a:prstGeom>
          <a:solidFill>
            <a:srgbClr val="0088CC"/>
          </a:solidFill>
          <a:ln cap="flat" cmpd="sng" w="12700">
            <a:solidFill>
              <a:srgbClr val="0088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4"/>
          <p:cNvSpPr/>
          <p:nvPr/>
        </p:nvSpPr>
        <p:spPr>
          <a:xfrm>
            <a:off x="365760" y="288036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03</a:t>
            </a:r>
            <a:endParaRPr b="0" i="0" sz="1600" u="none" cap="none" strike="noStrike">
              <a:solidFill>
                <a:schemeClr val="dk1"/>
              </a:solidFill>
              <a:latin typeface="Calibri"/>
              <a:ea typeface="Calibri"/>
              <a:cs typeface="Calibri"/>
              <a:sym typeface="Calibri"/>
            </a:endParaRPr>
          </a:p>
        </p:txBody>
      </p:sp>
      <p:sp>
        <p:nvSpPr>
          <p:cNvPr id="43" name="Google Shape;43;p4"/>
          <p:cNvSpPr/>
          <p:nvPr/>
        </p:nvSpPr>
        <p:spPr>
          <a:xfrm>
            <a:off x="1005840" y="2926080"/>
            <a:ext cx="347472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400"/>
              <a:buFont typeface="Calibri"/>
              <a:buNone/>
            </a:pPr>
            <a:r>
              <a:rPr b="0" i="0" lang="en-US" sz="1400" u="none" cap="none" strike="noStrike">
                <a:solidFill>
                  <a:srgbClr val="FFFFFF"/>
                </a:solidFill>
                <a:latin typeface="Calibri"/>
                <a:ea typeface="Calibri"/>
                <a:cs typeface="Calibri"/>
                <a:sym typeface="Calibri"/>
              </a:rPr>
              <a:t>Ağ Tasarım Aşamaları</a:t>
            </a:r>
            <a:endParaRPr b="0" i="0" sz="1400" u="none" cap="none" strike="noStrike">
              <a:solidFill>
                <a:schemeClr val="dk1"/>
              </a:solidFill>
              <a:latin typeface="Calibri"/>
              <a:ea typeface="Calibri"/>
              <a:cs typeface="Calibri"/>
              <a:sym typeface="Calibri"/>
            </a:endParaRPr>
          </a:p>
        </p:txBody>
      </p:sp>
      <p:sp>
        <p:nvSpPr>
          <p:cNvPr id="44" name="Google Shape;44;p4"/>
          <p:cNvSpPr/>
          <p:nvPr/>
        </p:nvSpPr>
        <p:spPr>
          <a:xfrm>
            <a:off x="365760" y="3840480"/>
            <a:ext cx="502920" cy="502920"/>
          </a:xfrm>
          <a:prstGeom prst="rect">
            <a:avLst/>
          </a:prstGeom>
          <a:solidFill>
            <a:srgbClr val="0088CC"/>
          </a:solidFill>
          <a:ln cap="flat" cmpd="sng" w="12700">
            <a:solidFill>
              <a:srgbClr val="0088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4"/>
          <p:cNvSpPr/>
          <p:nvPr/>
        </p:nvSpPr>
        <p:spPr>
          <a:xfrm>
            <a:off x="365760" y="384048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04</a:t>
            </a:r>
            <a:endParaRPr b="0" i="0" sz="1600" u="none" cap="none" strike="noStrike">
              <a:solidFill>
                <a:schemeClr val="dk1"/>
              </a:solidFill>
              <a:latin typeface="Calibri"/>
              <a:ea typeface="Calibri"/>
              <a:cs typeface="Calibri"/>
              <a:sym typeface="Calibri"/>
            </a:endParaRPr>
          </a:p>
        </p:txBody>
      </p:sp>
      <p:sp>
        <p:nvSpPr>
          <p:cNvPr id="46" name="Google Shape;46;p4"/>
          <p:cNvSpPr/>
          <p:nvPr/>
        </p:nvSpPr>
        <p:spPr>
          <a:xfrm>
            <a:off x="1005840" y="3886200"/>
            <a:ext cx="347472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400"/>
              <a:buFont typeface="Calibri"/>
              <a:buNone/>
            </a:pPr>
            <a:r>
              <a:rPr b="0" i="0" lang="en-US" sz="1400" u="none" cap="none" strike="noStrike">
                <a:solidFill>
                  <a:srgbClr val="FFFFFF"/>
                </a:solidFill>
                <a:latin typeface="Calibri"/>
                <a:ea typeface="Calibri"/>
                <a:cs typeface="Calibri"/>
                <a:sym typeface="Calibri"/>
              </a:rPr>
              <a:t>VLAN Yapılandırması</a:t>
            </a:r>
            <a:endParaRPr b="0" i="0" sz="1400" u="none" cap="none" strike="noStrike">
              <a:solidFill>
                <a:schemeClr val="dk1"/>
              </a:solidFill>
              <a:latin typeface="Calibri"/>
              <a:ea typeface="Calibri"/>
              <a:cs typeface="Calibri"/>
              <a:sym typeface="Calibri"/>
            </a:endParaRPr>
          </a:p>
        </p:txBody>
      </p:sp>
      <p:sp>
        <p:nvSpPr>
          <p:cNvPr id="47" name="Google Shape;47;p4"/>
          <p:cNvSpPr/>
          <p:nvPr/>
        </p:nvSpPr>
        <p:spPr>
          <a:xfrm>
            <a:off x="4754880" y="960120"/>
            <a:ext cx="502920" cy="502920"/>
          </a:xfrm>
          <a:prstGeom prst="rect">
            <a:avLst/>
          </a:prstGeom>
          <a:solidFill>
            <a:srgbClr val="0088CC"/>
          </a:solidFill>
          <a:ln cap="flat" cmpd="sng" w="12700">
            <a:solidFill>
              <a:srgbClr val="0088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4"/>
          <p:cNvSpPr/>
          <p:nvPr/>
        </p:nvSpPr>
        <p:spPr>
          <a:xfrm>
            <a:off x="4754880" y="96012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05</a:t>
            </a:r>
            <a:endParaRPr b="0" i="0" sz="1600" u="none" cap="none" strike="noStrike">
              <a:solidFill>
                <a:schemeClr val="dk1"/>
              </a:solidFill>
              <a:latin typeface="Calibri"/>
              <a:ea typeface="Calibri"/>
              <a:cs typeface="Calibri"/>
              <a:sym typeface="Calibri"/>
            </a:endParaRPr>
          </a:p>
        </p:txBody>
      </p:sp>
      <p:sp>
        <p:nvSpPr>
          <p:cNvPr id="49" name="Google Shape;49;p4"/>
          <p:cNvSpPr/>
          <p:nvPr/>
        </p:nvSpPr>
        <p:spPr>
          <a:xfrm>
            <a:off x="5394960" y="1005840"/>
            <a:ext cx="347472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400"/>
              <a:buFont typeface="Calibri"/>
              <a:buNone/>
            </a:pPr>
            <a:r>
              <a:rPr b="0" i="0" lang="en-US" sz="1400" u="none" cap="none" strike="noStrike">
                <a:solidFill>
                  <a:srgbClr val="FFFFFF"/>
                </a:solidFill>
                <a:latin typeface="Calibri"/>
                <a:ea typeface="Calibri"/>
                <a:cs typeface="Calibri"/>
                <a:sym typeface="Calibri"/>
              </a:rPr>
              <a:t>Wi-Fi Desteği</a:t>
            </a:r>
            <a:endParaRPr b="0" i="0" sz="1400" u="none" cap="none" strike="noStrike">
              <a:solidFill>
                <a:schemeClr val="dk1"/>
              </a:solidFill>
              <a:latin typeface="Calibri"/>
              <a:ea typeface="Calibri"/>
              <a:cs typeface="Calibri"/>
              <a:sym typeface="Calibri"/>
            </a:endParaRPr>
          </a:p>
        </p:txBody>
      </p:sp>
      <p:sp>
        <p:nvSpPr>
          <p:cNvPr id="50" name="Google Shape;50;p4"/>
          <p:cNvSpPr/>
          <p:nvPr/>
        </p:nvSpPr>
        <p:spPr>
          <a:xfrm>
            <a:off x="4754880" y="1920240"/>
            <a:ext cx="502920" cy="502920"/>
          </a:xfrm>
          <a:prstGeom prst="rect">
            <a:avLst/>
          </a:prstGeom>
          <a:solidFill>
            <a:srgbClr val="0088CC"/>
          </a:solidFill>
          <a:ln cap="flat" cmpd="sng" w="12700">
            <a:solidFill>
              <a:srgbClr val="0088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4"/>
          <p:cNvSpPr/>
          <p:nvPr/>
        </p:nvSpPr>
        <p:spPr>
          <a:xfrm>
            <a:off x="4754880" y="192024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06</a:t>
            </a:r>
            <a:endParaRPr b="0" i="0" sz="1600" u="none" cap="none" strike="noStrike">
              <a:solidFill>
                <a:schemeClr val="dk1"/>
              </a:solidFill>
              <a:latin typeface="Calibri"/>
              <a:ea typeface="Calibri"/>
              <a:cs typeface="Calibri"/>
              <a:sym typeface="Calibri"/>
            </a:endParaRPr>
          </a:p>
        </p:txBody>
      </p:sp>
      <p:sp>
        <p:nvSpPr>
          <p:cNvPr id="52" name="Google Shape;52;p4"/>
          <p:cNvSpPr/>
          <p:nvPr/>
        </p:nvSpPr>
        <p:spPr>
          <a:xfrm>
            <a:off x="5394960" y="1965960"/>
            <a:ext cx="347472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400"/>
              <a:buFont typeface="Calibri"/>
              <a:buNone/>
            </a:pPr>
            <a:r>
              <a:rPr b="0" i="0" lang="en-US" sz="1400" u="none" cap="none" strike="noStrike">
                <a:solidFill>
                  <a:srgbClr val="FFFFFF"/>
                </a:solidFill>
                <a:latin typeface="Calibri"/>
                <a:ea typeface="Calibri"/>
                <a:cs typeface="Calibri"/>
                <a:sym typeface="Calibri"/>
              </a:rPr>
              <a:t>Sonuç</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628"/>
        </a:solidFill>
      </p:bgPr>
    </p:bg>
    <p:spTree>
      <p:nvGrpSpPr>
        <p:cNvPr id="57" name="Shape 57"/>
        <p:cNvGrpSpPr/>
        <p:nvPr/>
      </p:nvGrpSpPr>
      <p:grpSpPr>
        <a:xfrm>
          <a:off x="0" y="0"/>
          <a:ext cx="0" cy="0"/>
          <a:chOff x="0" y="0"/>
          <a:chExt cx="0" cy="0"/>
        </a:xfrm>
      </p:grpSpPr>
      <p:sp>
        <p:nvSpPr>
          <p:cNvPr id="58" name="Google Shape;58;p5"/>
          <p:cNvSpPr/>
          <p:nvPr/>
        </p:nvSpPr>
        <p:spPr>
          <a:xfrm>
            <a:off x="0" y="0"/>
            <a:ext cx="109728" cy="5143500"/>
          </a:xfrm>
          <a:prstGeom prst="rect">
            <a:avLst/>
          </a:prstGeom>
          <a:solidFill>
            <a:srgbClr val="00D4FF"/>
          </a:solidFill>
          <a:ln cap="flat" cmpd="sng" w="12700">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5"/>
          <p:cNvSpPr/>
          <p:nvPr/>
        </p:nvSpPr>
        <p:spPr>
          <a:xfrm>
            <a:off x="365760" y="228600"/>
            <a:ext cx="841248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600"/>
              <a:buFont typeface="Calibri"/>
              <a:buNone/>
            </a:pPr>
            <a:r>
              <a:rPr b="1" i="0" lang="en-US" sz="2600" u="none" cap="none" strike="noStrike">
                <a:solidFill>
                  <a:srgbClr val="FFFFFF"/>
                </a:solidFill>
                <a:latin typeface="Calibri"/>
                <a:ea typeface="Calibri"/>
                <a:cs typeface="Calibri"/>
                <a:sym typeface="Calibri"/>
              </a:rPr>
              <a:t>Proje Kapsamı ve Hedefler</a:t>
            </a:r>
            <a:endParaRPr b="0" i="0" sz="2600" u="none" cap="none" strike="noStrike">
              <a:solidFill>
                <a:schemeClr val="dk1"/>
              </a:solidFill>
              <a:latin typeface="Calibri"/>
              <a:ea typeface="Calibri"/>
              <a:cs typeface="Calibri"/>
              <a:sym typeface="Calibri"/>
            </a:endParaRPr>
          </a:p>
        </p:txBody>
      </p:sp>
      <p:sp>
        <p:nvSpPr>
          <p:cNvPr id="60" name="Google Shape;60;p5"/>
          <p:cNvSpPr/>
          <p:nvPr/>
        </p:nvSpPr>
        <p:spPr>
          <a:xfrm>
            <a:off x="365760" y="713232"/>
            <a:ext cx="8412480" cy="36576"/>
          </a:xfrm>
          <a:prstGeom prst="rect">
            <a:avLst/>
          </a:prstGeom>
          <a:solidFill>
            <a:srgbClr val="0088CC"/>
          </a:solidFill>
          <a:ln cap="flat" cmpd="sng" w="12700">
            <a:solidFill>
              <a:srgbClr val="0088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5"/>
          <p:cNvSpPr/>
          <p:nvPr/>
        </p:nvSpPr>
        <p:spPr>
          <a:xfrm>
            <a:off x="365760" y="914400"/>
            <a:ext cx="3931920" cy="1828800"/>
          </a:xfrm>
          <a:prstGeom prst="rect">
            <a:avLst/>
          </a:prstGeom>
          <a:solidFill>
            <a:srgbClr val="1A3050"/>
          </a:solidFill>
          <a:ln cap="flat" cmpd="sng" w="12700">
            <a:solidFill>
              <a:srgbClr val="0088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5"/>
          <p:cNvSpPr/>
          <p:nvPr/>
        </p:nvSpPr>
        <p:spPr>
          <a:xfrm>
            <a:off x="365760" y="914400"/>
            <a:ext cx="3931920" cy="347472"/>
          </a:xfrm>
          <a:prstGeom prst="rect">
            <a:avLst/>
          </a:prstGeom>
          <a:solidFill>
            <a:srgbClr val="0088CC"/>
          </a:solidFill>
          <a:ln cap="flat" cmpd="sng" w="12700">
            <a:solidFill>
              <a:srgbClr val="0088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5"/>
          <p:cNvSpPr/>
          <p:nvPr/>
        </p:nvSpPr>
        <p:spPr>
          <a:xfrm>
            <a:off x="365760" y="914400"/>
            <a:ext cx="393192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Problem</a:t>
            </a:r>
            <a:endParaRPr b="0" i="0" sz="1400" u="none" cap="none" strike="noStrike">
              <a:solidFill>
                <a:schemeClr val="dk1"/>
              </a:solidFill>
              <a:latin typeface="Calibri"/>
              <a:ea typeface="Calibri"/>
              <a:cs typeface="Calibri"/>
              <a:sym typeface="Calibri"/>
            </a:endParaRPr>
          </a:p>
        </p:txBody>
      </p:sp>
      <p:sp>
        <p:nvSpPr>
          <p:cNvPr id="64" name="Google Shape;64;p5"/>
          <p:cNvSpPr/>
          <p:nvPr/>
        </p:nvSpPr>
        <p:spPr>
          <a:xfrm>
            <a:off x="502920" y="1325880"/>
            <a:ext cx="3657600" cy="12801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B0C4D8"/>
              </a:buClr>
              <a:buSzPts val="1200"/>
              <a:buFont typeface="Calibri"/>
              <a:buNone/>
            </a:pPr>
            <a:r>
              <a:rPr b="0" i="0" lang="en-US" sz="1200" u="none" cap="none" strike="noStrike">
                <a:solidFill>
                  <a:srgbClr val="B0C4D8"/>
                </a:solidFill>
                <a:latin typeface="Calibri"/>
                <a:ea typeface="Calibri"/>
                <a:cs typeface="Calibri"/>
                <a:sym typeface="Calibri"/>
              </a:rPr>
              <a:t>Onlarca eş zamanlı kullanıcıyı destekleyen yüksek performanslı, güvenli ve yönetilebilir bir ağ altyapısına ihtiyaç duyulmaktadır. Geleneksel düz (flat) ağ mimarileri yayın fırtınaları ve güvenlik açıklarına neden olmaktadır.</a:t>
            </a:r>
            <a:endParaRPr b="0" i="0" sz="1200" u="none" cap="none" strike="noStrike">
              <a:solidFill>
                <a:schemeClr val="dk1"/>
              </a:solidFill>
              <a:latin typeface="Calibri"/>
              <a:ea typeface="Calibri"/>
              <a:cs typeface="Calibri"/>
              <a:sym typeface="Calibri"/>
            </a:endParaRPr>
          </a:p>
        </p:txBody>
      </p:sp>
      <p:sp>
        <p:nvSpPr>
          <p:cNvPr id="65" name="Google Shape;65;p5"/>
          <p:cNvSpPr/>
          <p:nvPr/>
        </p:nvSpPr>
        <p:spPr>
          <a:xfrm>
            <a:off x="4846320" y="914400"/>
            <a:ext cx="3931920" cy="1828800"/>
          </a:xfrm>
          <a:prstGeom prst="rect">
            <a:avLst/>
          </a:prstGeom>
          <a:solidFill>
            <a:srgbClr val="1A3050"/>
          </a:solidFill>
          <a:ln cap="flat" cmpd="sng" w="12700">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5"/>
          <p:cNvSpPr/>
          <p:nvPr/>
        </p:nvSpPr>
        <p:spPr>
          <a:xfrm>
            <a:off x="4846320" y="914400"/>
            <a:ext cx="3931920" cy="347472"/>
          </a:xfrm>
          <a:prstGeom prst="rect">
            <a:avLst/>
          </a:prstGeom>
          <a:solidFill>
            <a:srgbClr val="0088CC"/>
          </a:solidFill>
          <a:ln cap="flat" cmpd="sng" w="12700">
            <a:solidFill>
              <a:srgbClr val="0088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5"/>
          <p:cNvSpPr/>
          <p:nvPr/>
        </p:nvSpPr>
        <p:spPr>
          <a:xfrm>
            <a:off x="4846320" y="914400"/>
            <a:ext cx="393192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Çözüm</a:t>
            </a:r>
            <a:endParaRPr b="0" i="0" sz="1400" u="none" cap="none" strike="noStrike">
              <a:solidFill>
                <a:schemeClr val="dk1"/>
              </a:solidFill>
              <a:latin typeface="Calibri"/>
              <a:ea typeface="Calibri"/>
              <a:cs typeface="Calibri"/>
              <a:sym typeface="Calibri"/>
            </a:endParaRPr>
          </a:p>
        </p:txBody>
      </p:sp>
      <p:sp>
        <p:nvSpPr>
          <p:cNvPr id="68" name="Google Shape;68;p5"/>
          <p:cNvSpPr/>
          <p:nvPr/>
        </p:nvSpPr>
        <p:spPr>
          <a:xfrm>
            <a:off x="4983480" y="1325880"/>
            <a:ext cx="3657600" cy="12801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B0C4D8"/>
              </a:buClr>
              <a:buSzPts val="1200"/>
              <a:buFont typeface="Calibri"/>
              <a:buNone/>
            </a:pPr>
            <a:r>
              <a:rPr b="0" i="0" lang="en-US" sz="1200" u="none" cap="none" strike="noStrike">
                <a:solidFill>
                  <a:srgbClr val="B0C4D8"/>
                </a:solidFill>
                <a:latin typeface="Calibri"/>
                <a:ea typeface="Calibri"/>
                <a:cs typeface="Calibri"/>
                <a:sym typeface="Calibri"/>
              </a:rPr>
              <a:t>VLAN tabanlı ağ segmentasyonu ve Wi-Fi erişim noktaları içeren kapsamlı bir LAN mimarisi.</a:t>
            </a:r>
            <a:endParaRPr b="0" i="0" sz="1200" u="none" cap="none" strike="noStrike">
              <a:solidFill>
                <a:schemeClr val="dk1"/>
              </a:solidFill>
              <a:latin typeface="Calibri"/>
              <a:ea typeface="Calibri"/>
              <a:cs typeface="Calibri"/>
              <a:sym typeface="Calibri"/>
            </a:endParaRPr>
          </a:p>
        </p:txBody>
      </p:sp>
      <p:sp>
        <p:nvSpPr>
          <p:cNvPr id="69" name="Google Shape;69;p5"/>
          <p:cNvSpPr/>
          <p:nvPr/>
        </p:nvSpPr>
        <p:spPr>
          <a:xfrm>
            <a:off x="365760" y="2926080"/>
            <a:ext cx="841248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D4FF"/>
              </a:buClr>
              <a:buSzPts val="1400"/>
              <a:buFont typeface="Calibri"/>
              <a:buNone/>
            </a:pPr>
            <a:r>
              <a:rPr b="1" i="0" lang="en-US" sz="1400" u="none" cap="none" strike="noStrike">
                <a:solidFill>
                  <a:srgbClr val="00D4FF"/>
                </a:solidFill>
                <a:latin typeface="Calibri"/>
                <a:ea typeface="Calibri"/>
                <a:cs typeface="Calibri"/>
                <a:sym typeface="Calibri"/>
              </a:rPr>
              <a:t>Temel Hedefler:</a:t>
            </a:r>
            <a:endParaRPr b="0" i="0" sz="1400" u="none" cap="none" strike="noStrike">
              <a:solidFill>
                <a:schemeClr val="dk1"/>
              </a:solidFill>
              <a:latin typeface="Calibri"/>
              <a:ea typeface="Calibri"/>
              <a:cs typeface="Calibri"/>
              <a:sym typeface="Calibri"/>
            </a:endParaRPr>
          </a:p>
        </p:txBody>
      </p:sp>
      <p:sp>
        <p:nvSpPr>
          <p:cNvPr id="70" name="Google Shape;70;p5"/>
          <p:cNvSpPr/>
          <p:nvPr/>
        </p:nvSpPr>
        <p:spPr>
          <a:xfrm>
            <a:off x="548640" y="3291840"/>
            <a:ext cx="8229600" cy="1554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1. VLAN yapısı ile mantıksal ağ segmentasyonu</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2. Kablosuz erişim noktaları ile mobil kullanıcı desteği</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628"/>
        </a:solidFill>
      </p:bgPr>
    </p:bg>
    <p:spTree>
      <p:nvGrpSpPr>
        <p:cNvPr id="75" name="Shape 75"/>
        <p:cNvGrpSpPr/>
        <p:nvPr/>
      </p:nvGrpSpPr>
      <p:grpSpPr>
        <a:xfrm>
          <a:off x="0" y="0"/>
          <a:ext cx="0" cy="0"/>
          <a:chOff x="0" y="0"/>
          <a:chExt cx="0" cy="0"/>
        </a:xfrm>
      </p:grpSpPr>
      <p:sp>
        <p:nvSpPr>
          <p:cNvPr id="76" name="Google Shape;76;p6"/>
          <p:cNvSpPr/>
          <p:nvPr/>
        </p:nvSpPr>
        <p:spPr>
          <a:xfrm>
            <a:off x="0" y="0"/>
            <a:ext cx="109728" cy="5143500"/>
          </a:xfrm>
          <a:prstGeom prst="rect">
            <a:avLst/>
          </a:prstGeom>
          <a:solidFill>
            <a:srgbClr val="00D4FF"/>
          </a:solidFill>
          <a:ln cap="flat" cmpd="sng" w="12700">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6"/>
          <p:cNvSpPr/>
          <p:nvPr/>
        </p:nvSpPr>
        <p:spPr>
          <a:xfrm>
            <a:off x="365760" y="228600"/>
            <a:ext cx="841248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600"/>
              <a:buFont typeface="Calibri"/>
              <a:buNone/>
            </a:pPr>
            <a:r>
              <a:rPr b="1" i="0" lang="en-US" sz="2600" u="none" cap="none" strike="noStrike">
                <a:solidFill>
                  <a:srgbClr val="FFFFFF"/>
                </a:solidFill>
                <a:latin typeface="Calibri"/>
                <a:ea typeface="Calibri"/>
                <a:cs typeface="Calibri"/>
                <a:sym typeface="Calibri"/>
              </a:rPr>
              <a:t>Kullanılan Teknolojiler</a:t>
            </a:r>
            <a:endParaRPr b="0" i="0" sz="2600" u="none" cap="none" strike="noStrike">
              <a:solidFill>
                <a:schemeClr val="dk1"/>
              </a:solidFill>
              <a:latin typeface="Calibri"/>
              <a:ea typeface="Calibri"/>
              <a:cs typeface="Calibri"/>
              <a:sym typeface="Calibri"/>
            </a:endParaRPr>
          </a:p>
        </p:txBody>
      </p:sp>
      <p:sp>
        <p:nvSpPr>
          <p:cNvPr id="78" name="Google Shape;78;p6"/>
          <p:cNvSpPr/>
          <p:nvPr/>
        </p:nvSpPr>
        <p:spPr>
          <a:xfrm>
            <a:off x="365760" y="713232"/>
            <a:ext cx="8412480" cy="36576"/>
          </a:xfrm>
          <a:prstGeom prst="rect">
            <a:avLst/>
          </a:prstGeom>
          <a:solidFill>
            <a:srgbClr val="0088CC"/>
          </a:solidFill>
          <a:ln cap="flat" cmpd="sng" w="12700">
            <a:solidFill>
              <a:srgbClr val="0088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6"/>
          <p:cNvSpPr/>
          <p:nvPr/>
        </p:nvSpPr>
        <p:spPr>
          <a:xfrm>
            <a:off x="483700" y="1186731"/>
            <a:ext cx="2373000" cy="3295800"/>
          </a:xfrm>
          <a:prstGeom prst="rect">
            <a:avLst/>
          </a:prstGeom>
          <a:solidFill>
            <a:srgbClr val="1A3050"/>
          </a:solidFill>
          <a:ln cap="flat" cmpd="sng" w="18300">
            <a:solidFill>
              <a:srgbClr val="0088CC"/>
            </a:solidFill>
            <a:prstDash val="solid"/>
            <a:round/>
            <a:headEnd len="sm" w="sm" type="none"/>
            <a:tailEnd len="sm" w="sm" type="none"/>
          </a:ln>
        </p:spPr>
        <p:txBody>
          <a:bodyPr anchorCtr="0" anchor="ctr" bIns="131825" lIns="131825" spcFirstLastPara="1" rIns="131825" wrap="square" tIns="131825">
            <a:noAutofit/>
          </a:bodyPr>
          <a:lstStyle/>
          <a:p>
            <a:pPr indent="0" lvl="0" marL="0" rtl="0" algn="l">
              <a:spcBef>
                <a:spcPts val="0"/>
              </a:spcBef>
              <a:spcAft>
                <a:spcPts val="0"/>
              </a:spcAft>
              <a:buNone/>
            </a:pPr>
            <a:r>
              <a:t/>
            </a:r>
            <a:endParaRPr/>
          </a:p>
        </p:txBody>
      </p:sp>
      <p:sp>
        <p:nvSpPr>
          <p:cNvPr id="80" name="Google Shape;80;p6"/>
          <p:cNvSpPr/>
          <p:nvPr/>
        </p:nvSpPr>
        <p:spPr>
          <a:xfrm>
            <a:off x="483700" y="1186731"/>
            <a:ext cx="2373000" cy="79200"/>
          </a:xfrm>
          <a:prstGeom prst="rect">
            <a:avLst/>
          </a:prstGeom>
          <a:solidFill>
            <a:srgbClr val="00D4FF"/>
          </a:solidFill>
          <a:ln cap="flat" cmpd="sng" w="18300">
            <a:solidFill>
              <a:srgbClr val="00D4FF"/>
            </a:solidFill>
            <a:prstDash val="solid"/>
            <a:round/>
            <a:headEnd len="sm" w="sm" type="none"/>
            <a:tailEnd len="sm" w="sm" type="none"/>
          </a:ln>
        </p:spPr>
        <p:txBody>
          <a:bodyPr anchorCtr="0" anchor="ctr" bIns="131825" lIns="131825" spcFirstLastPara="1" rIns="131825" wrap="square" tIns="131825">
            <a:noAutofit/>
          </a:bodyPr>
          <a:lstStyle/>
          <a:p>
            <a:pPr indent="0" lvl="0" marL="0" rtl="0" algn="l">
              <a:spcBef>
                <a:spcPts val="0"/>
              </a:spcBef>
              <a:spcAft>
                <a:spcPts val="0"/>
              </a:spcAft>
              <a:buNone/>
            </a:pPr>
            <a:r>
              <a:t/>
            </a:r>
            <a:endParaRPr/>
          </a:p>
        </p:txBody>
      </p:sp>
      <p:sp>
        <p:nvSpPr>
          <p:cNvPr id="81" name="Google Shape;81;p6"/>
          <p:cNvSpPr/>
          <p:nvPr/>
        </p:nvSpPr>
        <p:spPr>
          <a:xfrm>
            <a:off x="1274706" y="1384483"/>
            <a:ext cx="791100" cy="791100"/>
          </a:xfrm>
          <a:prstGeom prst="ellipse">
            <a:avLst/>
          </a:prstGeom>
          <a:solidFill>
            <a:srgbClr val="0088CC"/>
          </a:solidFill>
          <a:ln cap="flat" cmpd="sng" w="18300">
            <a:solidFill>
              <a:srgbClr val="0088CC"/>
            </a:solidFill>
            <a:prstDash val="solid"/>
            <a:round/>
            <a:headEnd len="sm" w="sm" type="none"/>
            <a:tailEnd len="sm" w="sm" type="none"/>
          </a:ln>
        </p:spPr>
        <p:txBody>
          <a:bodyPr anchorCtr="0" anchor="ctr" bIns="131825" lIns="131825" spcFirstLastPara="1" rIns="131825" wrap="square" tIns="131825">
            <a:noAutofit/>
          </a:bodyPr>
          <a:lstStyle/>
          <a:p>
            <a:pPr indent="0" lvl="0" marL="0" rtl="0" algn="l">
              <a:spcBef>
                <a:spcPts val="0"/>
              </a:spcBef>
              <a:spcAft>
                <a:spcPts val="0"/>
              </a:spcAft>
              <a:buNone/>
            </a:pPr>
            <a:r>
              <a:t/>
            </a:r>
            <a:endParaRPr/>
          </a:p>
        </p:txBody>
      </p:sp>
      <p:sp>
        <p:nvSpPr>
          <p:cNvPr id="82" name="Google Shape;82;p6"/>
          <p:cNvSpPr/>
          <p:nvPr/>
        </p:nvSpPr>
        <p:spPr>
          <a:xfrm>
            <a:off x="1274706" y="1384483"/>
            <a:ext cx="791100" cy="791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307"/>
              <a:buFont typeface="Calibri"/>
              <a:buNone/>
            </a:pPr>
            <a:r>
              <a:rPr b="1" i="0" lang="en-US" sz="2307" u="none" cap="none" strike="noStrike">
                <a:solidFill>
                  <a:srgbClr val="FFFFFF"/>
                </a:solidFill>
                <a:latin typeface="Calibri"/>
                <a:ea typeface="Calibri"/>
                <a:cs typeface="Calibri"/>
                <a:sym typeface="Calibri"/>
              </a:rPr>
              <a:t>1</a:t>
            </a:r>
            <a:endParaRPr b="0" i="0" sz="2307" u="none" cap="none" strike="noStrike">
              <a:solidFill>
                <a:schemeClr val="dk1"/>
              </a:solidFill>
              <a:latin typeface="Calibri"/>
              <a:ea typeface="Calibri"/>
              <a:cs typeface="Calibri"/>
              <a:sym typeface="Calibri"/>
            </a:endParaRPr>
          </a:p>
        </p:txBody>
      </p:sp>
      <p:sp>
        <p:nvSpPr>
          <p:cNvPr id="83" name="Google Shape;83;p6"/>
          <p:cNvSpPr/>
          <p:nvPr/>
        </p:nvSpPr>
        <p:spPr>
          <a:xfrm>
            <a:off x="615534" y="2307323"/>
            <a:ext cx="2109600" cy="988500"/>
          </a:xfrm>
          <a:prstGeom prst="rect">
            <a:avLst/>
          </a:prstGeom>
          <a:noFill/>
          <a:ln>
            <a:noFill/>
          </a:ln>
        </p:spPr>
        <p:txBody>
          <a:bodyPr anchorCtr="0" anchor="ctr" bIns="65900" lIns="131825" spcFirstLastPara="1" rIns="131825" wrap="square" tIns="65900">
            <a:noAutofit/>
          </a:bodyPr>
          <a:lstStyle/>
          <a:p>
            <a:pPr indent="0" lvl="0" marL="0" marR="0" rtl="0" algn="ctr">
              <a:spcBef>
                <a:spcPts val="0"/>
              </a:spcBef>
              <a:spcAft>
                <a:spcPts val="0"/>
              </a:spcAft>
              <a:buClr>
                <a:srgbClr val="00D4FF"/>
              </a:buClr>
              <a:buSzPts val="1874"/>
              <a:buFont typeface="Calibri"/>
              <a:buNone/>
            </a:pPr>
            <a:r>
              <a:rPr b="1" i="0" lang="en-US" sz="1874" u="none" cap="none" strike="noStrike">
                <a:solidFill>
                  <a:srgbClr val="00D4FF"/>
                </a:solidFill>
                <a:latin typeface="Calibri"/>
                <a:ea typeface="Calibri"/>
                <a:cs typeface="Calibri"/>
                <a:sym typeface="Calibri"/>
              </a:rPr>
              <a:t>Cisco</a:t>
            </a:r>
            <a:endParaRPr b="0" i="0" sz="1874"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0D4FF"/>
              </a:buClr>
              <a:buSzPts val="1874"/>
              <a:buFont typeface="Calibri"/>
              <a:buNone/>
            </a:pPr>
            <a:r>
              <a:rPr b="1" i="0" lang="en-US" sz="1874" u="none" cap="none" strike="noStrike">
                <a:solidFill>
                  <a:srgbClr val="00D4FF"/>
                </a:solidFill>
                <a:latin typeface="Calibri"/>
                <a:ea typeface="Calibri"/>
                <a:cs typeface="Calibri"/>
                <a:sym typeface="Calibri"/>
              </a:rPr>
              <a:t>Packet Tracer</a:t>
            </a:r>
            <a:endParaRPr b="0" i="0" sz="1874" u="none" cap="none" strike="noStrike">
              <a:solidFill>
                <a:schemeClr val="dk1"/>
              </a:solidFill>
              <a:latin typeface="Calibri"/>
              <a:ea typeface="Calibri"/>
              <a:cs typeface="Calibri"/>
              <a:sym typeface="Calibri"/>
            </a:endParaRPr>
          </a:p>
        </p:txBody>
      </p:sp>
      <p:sp>
        <p:nvSpPr>
          <p:cNvPr id="84" name="Google Shape;84;p6"/>
          <p:cNvSpPr/>
          <p:nvPr/>
        </p:nvSpPr>
        <p:spPr>
          <a:xfrm>
            <a:off x="615534" y="3361998"/>
            <a:ext cx="2109600" cy="988500"/>
          </a:xfrm>
          <a:prstGeom prst="rect">
            <a:avLst/>
          </a:prstGeom>
          <a:noFill/>
          <a:ln>
            <a:noFill/>
          </a:ln>
        </p:spPr>
        <p:txBody>
          <a:bodyPr anchorCtr="0" anchor="ctr" bIns="65900" lIns="131825" spcFirstLastPara="1" rIns="131825" wrap="square" tIns="65900">
            <a:noAutofit/>
          </a:bodyPr>
          <a:lstStyle/>
          <a:p>
            <a:pPr indent="0" lvl="0" marL="0" marR="0" rtl="0" algn="ctr">
              <a:spcBef>
                <a:spcPts val="0"/>
              </a:spcBef>
              <a:spcAft>
                <a:spcPts val="0"/>
              </a:spcAft>
              <a:buClr>
                <a:srgbClr val="B0C4D8"/>
              </a:buClr>
              <a:buSzPts val="1586"/>
              <a:buFont typeface="Calibri"/>
              <a:buNone/>
            </a:pPr>
            <a:r>
              <a:rPr b="0" i="0" lang="en-US" sz="1586" u="none" cap="none" strike="noStrike">
                <a:solidFill>
                  <a:srgbClr val="B0C4D8"/>
                </a:solidFill>
                <a:latin typeface="Calibri"/>
                <a:ea typeface="Calibri"/>
                <a:cs typeface="Calibri"/>
                <a:sym typeface="Calibri"/>
              </a:rPr>
              <a:t>Ağ simülasyonu</a:t>
            </a:r>
            <a:endParaRPr b="0" i="0" sz="1586"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B0C4D8"/>
              </a:buClr>
              <a:buSzPts val="1586"/>
              <a:buFont typeface="Calibri"/>
              <a:buNone/>
            </a:pPr>
            <a:r>
              <a:rPr b="0" i="0" lang="en-US" sz="1586" u="none" cap="none" strike="noStrike">
                <a:solidFill>
                  <a:srgbClr val="B0C4D8"/>
                </a:solidFill>
                <a:latin typeface="Calibri"/>
                <a:ea typeface="Calibri"/>
                <a:cs typeface="Calibri"/>
                <a:sym typeface="Calibri"/>
              </a:rPr>
              <a:t>ve topoloji tasarımı</a:t>
            </a:r>
            <a:endParaRPr b="0" i="0" sz="1586" u="none" cap="none" strike="noStrike">
              <a:solidFill>
                <a:schemeClr val="dk1"/>
              </a:solidFill>
              <a:latin typeface="Calibri"/>
              <a:ea typeface="Calibri"/>
              <a:cs typeface="Calibri"/>
              <a:sym typeface="Calibri"/>
            </a:endParaRPr>
          </a:p>
        </p:txBody>
      </p:sp>
      <p:sp>
        <p:nvSpPr>
          <p:cNvPr id="85" name="Google Shape;85;p6"/>
          <p:cNvSpPr/>
          <p:nvPr/>
        </p:nvSpPr>
        <p:spPr>
          <a:xfrm>
            <a:off x="3444493" y="1186731"/>
            <a:ext cx="2373000" cy="3295800"/>
          </a:xfrm>
          <a:prstGeom prst="rect">
            <a:avLst/>
          </a:prstGeom>
          <a:solidFill>
            <a:srgbClr val="1A3050"/>
          </a:solidFill>
          <a:ln cap="flat" cmpd="sng" w="18300">
            <a:solidFill>
              <a:srgbClr val="0088CC"/>
            </a:solidFill>
            <a:prstDash val="solid"/>
            <a:round/>
            <a:headEnd len="sm" w="sm" type="none"/>
            <a:tailEnd len="sm" w="sm" type="none"/>
          </a:ln>
        </p:spPr>
        <p:txBody>
          <a:bodyPr anchorCtr="0" anchor="ctr" bIns="131825" lIns="131825" spcFirstLastPara="1" rIns="131825" wrap="square" tIns="131825">
            <a:noAutofit/>
          </a:bodyPr>
          <a:lstStyle/>
          <a:p>
            <a:pPr indent="0" lvl="0" marL="0" rtl="0" algn="l">
              <a:spcBef>
                <a:spcPts val="0"/>
              </a:spcBef>
              <a:spcAft>
                <a:spcPts val="0"/>
              </a:spcAft>
              <a:buNone/>
            </a:pPr>
            <a:r>
              <a:t/>
            </a:r>
            <a:endParaRPr/>
          </a:p>
        </p:txBody>
      </p:sp>
      <p:sp>
        <p:nvSpPr>
          <p:cNvPr id="86" name="Google Shape;86;p6"/>
          <p:cNvSpPr/>
          <p:nvPr/>
        </p:nvSpPr>
        <p:spPr>
          <a:xfrm>
            <a:off x="3444493" y="1186731"/>
            <a:ext cx="2373000" cy="79200"/>
          </a:xfrm>
          <a:prstGeom prst="rect">
            <a:avLst/>
          </a:prstGeom>
          <a:solidFill>
            <a:srgbClr val="00D4FF"/>
          </a:solidFill>
          <a:ln cap="flat" cmpd="sng" w="18300">
            <a:solidFill>
              <a:srgbClr val="00D4FF"/>
            </a:solidFill>
            <a:prstDash val="solid"/>
            <a:round/>
            <a:headEnd len="sm" w="sm" type="none"/>
            <a:tailEnd len="sm" w="sm" type="none"/>
          </a:ln>
        </p:spPr>
        <p:txBody>
          <a:bodyPr anchorCtr="0" anchor="ctr" bIns="131825" lIns="131825" spcFirstLastPara="1" rIns="131825" wrap="square" tIns="131825">
            <a:noAutofit/>
          </a:bodyPr>
          <a:lstStyle/>
          <a:p>
            <a:pPr indent="0" lvl="0" marL="0" rtl="0" algn="l">
              <a:spcBef>
                <a:spcPts val="0"/>
              </a:spcBef>
              <a:spcAft>
                <a:spcPts val="0"/>
              </a:spcAft>
              <a:buNone/>
            </a:pPr>
            <a:r>
              <a:t/>
            </a:r>
            <a:endParaRPr/>
          </a:p>
        </p:txBody>
      </p:sp>
      <p:sp>
        <p:nvSpPr>
          <p:cNvPr id="87" name="Google Shape;87;p6"/>
          <p:cNvSpPr/>
          <p:nvPr/>
        </p:nvSpPr>
        <p:spPr>
          <a:xfrm>
            <a:off x="4235500" y="1384483"/>
            <a:ext cx="791100" cy="791100"/>
          </a:xfrm>
          <a:prstGeom prst="ellipse">
            <a:avLst/>
          </a:prstGeom>
          <a:solidFill>
            <a:srgbClr val="0088CC"/>
          </a:solidFill>
          <a:ln cap="flat" cmpd="sng" w="18300">
            <a:solidFill>
              <a:srgbClr val="0088CC"/>
            </a:solidFill>
            <a:prstDash val="solid"/>
            <a:round/>
            <a:headEnd len="sm" w="sm" type="none"/>
            <a:tailEnd len="sm" w="sm" type="none"/>
          </a:ln>
        </p:spPr>
        <p:txBody>
          <a:bodyPr anchorCtr="0" anchor="ctr" bIns="131825" lIns="131825" spcFirstLastPara="1" rIns="131825" wrap="square" tIns="131825">
            <a:noAutofit/>
          </a:bodyPr>
          <a:lstStyle/>
          <a:p>
            <a:pPr indent="0" lvl="0" marL="0" rtl="0" algn="l">
              <a:spcBef>
                <a:spcPts val="0"/>
              </a:spcBef>
              <a:spcAft>
                <a:spcPts val="0"/>
              </a:spcAft>
              <a:buNone/>
            </a:pPr>
            <a:r>
              <a:t/>
            </a:r>
            <a:endParaRPr/>
          </a:p>
        </p:txBody>
      </p:sp>
      <p:sp>
        <p:nvSpPr>
          <p:cNvPr id="88" name="Google Shape;88;p6"/>
          <p:cNvSpPr/>
          <p:nvPr/>
        </p:nvSpPr>
        <p:spPr>
          <a:xfrm>
            <a:off x="4235500" y="1384483"/>
            <a:ext cx="791100" cy="791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307"/>
              <a:buFont typeface="Calibri"/>
              <a:buNone/>
            </a:pPr>
            <a:r>
              <a:rPr b="1" i="0" lang="en-US" sz="2307" u="none" cap="none" strike="noStrike">
                <a:solidFill>
                  <a:srgbClr val="FFFFFF"/>
                </a:solidFill>
                <a:latin typeface="Calibri"/>
                <a:ea typeface="Calibri"/>
                <a:cs typeface="Calibri"/>
                <a:sym typeface="Calibri"/>
              </a:rPr>
              <a:t>2</a:t>
            </a:r>
            <a:endParaRPr b="0" i="0" sz="2307" u="none" cap="none" strike="noStrike">
              <a:solidFill>
                <a:schemeClr val="dk1"/>
              </a:solidFill>
              <a:latin typeface="Calibri"/>
              <a:ea typeface="Calibri"/>
              <a:cs typeface="Calibri"/>
              <a:sym typeface="Calibri"/>
            </a:endParaRPr>
          </a:p>
        </p:txBody>
      </p:sp>
      <p:sp>
        <p:nvSpPr>
          <p:cNvPr id="89" name="Google Shape;89;p6"/>
          <p:cNvSpPr/>
          <p:nvPr/>
        </p:nvSpPr>
        <p:spPr>
          <a:xfrm>
            <a:off x="3576328" y="2307323"/>
            <a:ext cx="2109600" cy="988500"/>
          </a:xfrm>
          <a:prstGeom prst="rect">
            <a:avLst/>
          </a:prstGeom>
          <a:noFill/>
          <a:ln>
            <a:noFill/>
          </a:ln>
        </p:spPr>
        <p:txBody>
          <a:bodyPr anchorCtr="0" anchor="ctr" bIns="65900" lIns="131825" spcFirstLastPara="1" rIns="131825" wrap="square" tIns="65900">
            <a:noAutofit/>
          </a:bodyPr>
          <a:lstStyle/>
          <a:p>
            <a:pPr indent="0" lvl="0" marL="0" marR="0" rtl="0" algn="ctr">
              <a:spcBef>
                <a:spcPts val="0"/>
              </a:spcBef>
              <a:spcAft>
                <a:spcPts val="0"/>
              </a:spcAft>
              <a:buClr>
                <a:srgbClr val="00D4FF"/>
              </a:buClr>
              <a:buSzPts val="1874"/>
              <a:buFont typeface="Calibri"/>
              <a:buNone/>
            </a:pPr>
            <a:r>
              <a:rPr b="1" i="0" lang="en-US" sz="1874" u="none" cap="none" strike="noStrike">
                <a:solidFill>
                  <a:srgbClr val="00D4FF"/>
                </a:solidFill>
                <a:latin typeface="Calibri"/>
                <a:ea typeface="Calibri"/>
                <a:cs typeface="Calibri"/>
                <a:sym typeface="Calibri"/>
              </a:rPr>
              <a:t>VLAN</a:t>
            </a:r>
            <a:endParaRPr b="0" i="0" sz="1874"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0D4FF"/>
              </a:buClr>
              <a:buSzPts val="1874"/>
              <a:buFont typeface="Calibri"/>
              <a:buNone/>
            </a:pPr>
            <a:r>
              <a:rPr b="1" i="0" lang="en-US" sz="1874" u="none" cap="none" strike="noStrike">
                <a:solidFill>
                  <a:srgbClr val="00D4FF"/>
                </a:solidFill>
                <a:latin typeface="Calibri"/>
                <a:ea typeface="Calibri"/>
                <a:cs typeface="Calibri"/>
                <a:sym typeface="Calibri"/>
              </a:rPr>
              <a:t>(802.1Q)</a:t>
            </a:r>
            <a:endParaRPr b="0" i="0" sz="1874" u="none" cap="none" strike="noStrike">
              <a:solidFill>
                <a:schemeClr val="dk1"/>
              </a:solidFill>
              <a:latin typeface="Calibri"/>
              <a:ea typeface="Calibri"/>
              <a:cs typeface="Calibri"/>
              <a:sym typeface="Calibri"/>
            </a:endParaRPr>
          </a:p>
        </p:txBody>
      </p:sp>
      <p:sp>
        <p:nvSpPr>
          <p:cNvPr id="90" name="Google Shape;90;p6"/>
          <p:cNvSpPr/>
          <p:nvPr/>
        </p:nvSpPr>
        <p:spPr>
          <a:xfrm>
            <a:off x="3576328" y="3361998"/>
            <a:ext cx="2109600" cy="988500"/>
          </a:xfrm>
          <a:prstGeom prst="rect">
            <a:avLst/>
          </a:prstGeom>
          <a:noFill/>
          <a:ln>
            <a:noFill/>
          </a:ln>
        </p:spPr>
        <p:txBody>
          <a:bodyPr anchorCtr="0" anchor="ctr" bIns="65900" lIns="131825" spcFirstLastPara="1" rIns="131825" wrap="square" tIns="65900">
            <a:noAutofit/>
          </a:bodyPr>
          <a:lstStyle/>
          <a:p>
            <a:pPr indent="0" lvl="0" marL="0" marR="0" rtl="0" algn="ctr">
              <a:spcBef>
                <a:spcPts val="0"/>
              </a:spcBef>
              <a:spcAft>
                <a:spcPts val="0"/>
              </a:spcAft>
              <a:buClr>
                <a:srgbClr val="B0C4D8"/>
              </a:buClr>
              <a:buSzPts val="1586"/>
              <a:buFont typeface="Calibri"/>
              <a:buNone/>
            </a:pPr>
            <a:r>
              <a:rPr b="0" i="0" lang="en-US" sz="1586" u="none" cap="none" strike="noStrike">
                <a:solidFill>
                  <a:srgbClr val="B0C4D8"/>
                </a:solidFill>
                <a:latin typeface="Calibri"/>
                <a:ea typeface="Calibri"/>
                <a:cs typeface="Calibri"/>
                <a:sym typeface="Calibri"/>
              </a:rPr>
              <a:t>Ağ segmentasyonu</a:t>
            </a:r>
            <a:endParaRPr b="0" i="0" sz="1586"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B0C4D8"/>
              </a:buClr>
              <a:buSzPts val="1586"/>
              <a:buFont typeface="Calibri"/>
              <a:buNone/>
            </a:pPr>
            <a:r>
              <a:rPr b="0" i="0" lang="en-US" sz="1586" u="none" cap="none" strike="noStrike">
                <a:solidFill>
                  <a:srgbClr val="B0C4D8"/>
                </a:solidFill>
                <a:latin typeface="Calibri"/>
                <a:ea typeface="Calibri"/>
                <a:cs typeface="Calibri"/>
                <a:sym typeface="Calibri"/>
              </a:rPr>
              <a:t>ve yayın alanı kontrolü</a:t>
            </a:r>
            <a:endParaRPr b="0" i="0" sz="1586" u="none" cap="none" strike="noStrike">
              <a:solidFill>
                <a:schemeClr val="dk1"/>
              </a:solidFill>
              <a:latin typeface="Calibri"/>
              <a:ea typeface="Calibri"/>
              <a:cs typeface="Calibri"/>
              <a:sym typeface="Calibri"/>
            </a:endParaRPr>
          </a:p>
        </p:txBody>
      </p:sp>
      <p:sp>
        <p:nvSpPr>
          <p:cNvPr id="91" name="Google Shape;91;p6"/>
          <p:cNvSpPr/>
          <p:nvPr/>
        </p:nvSpPr>
        <p:spPr>
          <a:xfrm>
            <a:off x="6405292" y="1186731"/>
            <a:ext cx="2373000" cy="3295800"/>
          </a:xfrm>
          <a:prstGeom prst="rect">
            <a:avLst/>
          </a:prstGeom>
          <a:solidFill>
            <a:srgbClr val="1A3050"/>
          </a:solidFill>
          <a:ln cap="flat" cmpd="sng" w="18300">
            <a:solidFill>
              <a:srgbClr val="0088CC"/>
            </a:solidFill>
            <a:prstDash val="solid"/>
            <a:round/>
            <a:headEnd len="sm" w="sm" type="none"/>
            <a:tailEnd len="sm" w="sm" type="none"/>
          </a:ln>
        </p:spPr>
        <p:txBody>
          <a:bodyPr anchorCtr="0" anchor="ctr" bIns="131825" lIns="131825" spcFirstLastPara="1" rIns="131825" wrap="square" tIns="131825">
            <a:noAutofit/>
          </a:bodyPr>
          <a:lstStyle/>
          <a:p>
            <a:pPr indent="0" lvl="0" marL="0" rtl="0" algn="l">
              <a:spcBef>
                <a:spcPts val="0"/>
              </a:spcBef>
              <a:spcAft>
                <a:spcPts val="0"/>
              </a:spcAft>
              <a:buNone/>
            </a:pPr>
            <a:r>
              <a:t/>
            </a:r>
            <a:endParaRPr/>
          </a:p>
        </p:txBody>
      </p:sp>
      <p:sp>
        <p:nvSpPr>
          <p:cNvPr id="92" name="Google Shape;92;p6"/>
          <p:cNvSpPr/>
          <p:nvPr/>
        </p:nvSpPr>
        <p:spPr>
          <a:xfrm>
            <a:off x="6405292" y="1186731"/>
            <a:ext cx="2373000" cy="79200"/>
          </a:xfrm>
          <a:prstGeom prst="rect">
            <a:avLst/>
          </a:prstGeom>
          <a:solidFill>
            <a:srgbClr val="00D4FF"/>
          </a:solidFill>
          <a:ln cap="flat" cmpd="sng" w="18300">
            <a:solidFill>
              <a:srgbClr val="00D4FF"/>
            </a:solidFill>
            <a:prstDash val="solid"/>
            <a:round/>
            <a:headEnd len="sm" w="sm" type="none"/>
            <a:tailEnd len="sm" w="sm" type="none"/>
          </a:ln>
        </p:spPr>
        <p:txBody>
          <a:bodyPr anchorCtr="0" anchor="ctr" bIns="131825" lIns="131825" spcFirstLastPara="1" rIns="131825" wrap="square" tIns="131825">
            <a:noAutofit/>
          </a:bodyPr>
          <a:lstStyle/>
          <a:p>
            <a:pPr indent="0" lvl="0" marL="0" rtl="0" algn="l">
              <a:spcBef>
                <a:spcPts val="0"/>
              </a:spcBef>
              <a:spcAft>
                <a:spcPts val="0"/>
              </a:spcAft>
              <a:buNone/>
            </a:pPr>
            <a:r>
              <a:t/>
            </a:r>
            <a:endParaRPr/>
          </a:p>
        </p:txBody>
      </p:sp>
      <p:sp>
        <p:nvSpPr>
          <p:cNvPr id="93" name="Google Shape;93;p6"/>
          <p:cNvSpPr/>
          <p:nvPr/>
        </p:nvSpPr>
        <p:spPr>
          <a:xfrm>
            <a:off x="7196298" y="1384483"/>
            <a:ext cx="791100" cy="791100"/>
          </a:xfrm>
          <a:prstGeom prst="ellipse">
            <a:avLst/>
          </a:prstGeom>
          <a:solidFill>
            <a:srgbClr val="0088CC"/>
          </a:solidFill>
          <a:ln cap="flat" cmpd="sng" w="18300">
            <a:solidFill>
              <a:srgbClr val="0088CC"/>
            </a:solidFill>
            <a:prstDash val="solid"/>
            <a:round/>
            <a:headEnd len="sm" w="sm" type="none"/>
            <a:tailEnd len="sm" w="sm" type="none"/>
          </a:ln>
        </p:spPr>
        <p:txBody>
          <a:bodyPr anchorCtr="0" anchor="ctr" bIns="131825" lIns="131825" spcFirstLastPara="1" rIns="131825" wrap="square" tIns="131825">
            <a:noAutofit/>
          </a:bodyPr>
          <a:lstStyle/>
          <a:p>
            <a:pPr indent="0" lvl="0" marL="0" rtl="0" algn="l">
              <a:spcBef>
                <a:spcPts val="0"/>
              </a:spcBef>
              <a:spcAft>
                <a:spcPts val="0"/>
              </a:spcAft>
              <a:buNone/>
            </a:pPr>
            <a:r>
              <a:t/>
            </a:r>
            <a:endParaRPr/>
          </a:p>
        </p:txBody>
      </p:sp>
      <p:sp>
        <p:nvSpPr>
          <p:cNvPr id="94" name="Google Shape;94;p6"/>
          <p:cNvSpPr/>
          <p:nvPr/>
        </p:nvSpPr>
        <p:spPr>
          <a:xfrm>
            <a:off x="7196298" y="1384483"/>
            <a:ext cx="791100" cy="791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307"/>
              <a:buFont typeface="Calibri"/>
              <a:buNone/>
            </a:pPr>
            <a:r>
              <a:rPr b="1" i="0" lang="en-US" sz="2307" u="none" cap="none" strike="noStrike">
                <a:solidFill>
                  <a:srgbClr val="FFFFFF"/>
                </a:solidFill>
                <a:latin typeface="Calibri"/>
                <a:ea typeface="Calibri"/>
                <a:cs typeface="Calibri"/>
                <a:sym typeface="Calibri"/>
              </a:rPr>
              <a:t>3</a:t>
            </a:r>
            <a:endParaRPr b="0" i="0" sz="2307" u="none" cap="none" strike="noStrike">
              <a:solidFill>
                <a:schemeClr val="dk1"/>
              </a:solidFill>
              <a:latin typeface="Calibri"/>
              <a:ea typeface="Calibri"/>
              <a:cs typeface="Calibri"/>
              <a:sym typeface="Calibri"/>
            </a:endParaRPr>
          </a:p>
        </p:txBody>
      </p:sp>
      <p:sp>
        <p:nvSpPr>
          <p:cNvPr id="95" name="Google Shape;95;p6"/>
          <p:cNvSpPr/>
          <p:nvPr/>
        </p:nvSpPr>
        <p:spPr>
          <a:xfrm>
            <a:off x="6537126" y="2307323"/>
            <a:ext cx="2109600" cy="988500"/>
          </a:xfrm>
          <a:prstGeom prst="rect">
            <a:avLst/>
          </a:prstGeom>
          <a:noFill/>
          <a:ln>
            <a:noFill/>
          </a:ln>
        </p:spPr>
        <p:txBody>
          <a:bodyPr anchorCtr="0" anchor="ctr" bIns="65900" lIns="131825" spcFirstLastPara="1" rIns="131825" wrap="square" tIns="65900">
            <a:noAutofit/>
          </a:bodyPr>
          <a:lstStyle/>
          <a:p>
            <a:pPr indent="0" lvl="0" marL="0" marR="0" rtl="0" algn="ctr">
              <a:spcBef>
                <a:spcPts val="0"/>
              </a:spcBef>
              <a:spcAft>
                <a:spcPts val="0"/>
              </a:spcAft>
              <a:buClr>
                <a:srgbClr val="00D4FF"/>
              </a:buClr>
              <a:buSzPts val="1874"/>
              <a:buFont typeface="Calibri"/>
              <a:buNone/>
            </a:pPr>
            <a:r>
              <a:rPr b="1" i="0" lang="en-US" sz="1874" u="none" cap="none" strike="noStrike">
                <a:solidFill>
                  <a:srgbClr val="00D4FF"/>
                </a:solidFill>
                <a:latin typeface="Calibri"/>
                <a:ea typeface="Calibri"/>
                <a:cs typeface="Calibri"/>
                <a:sym typeface="Calibri"/>
              </a:rPr>
              <a:t>Wi-Fi</a:t>
            </a:r>
            <a:endParaRPr b="0" i="0" sz="1874"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0D4FF"/>
              </a:buClr>
              <a:buSzPts val="1874"/>
              <a:buFont typeface="Calibri"/>
              <a:buNone/>
            </a:pPr>
            <a:r>
              <a:rPr b="1" i="0" lang="en-US" sz="1874" u="none" cap="none" strike="noStrike">
                <a:solidFill>
                  <a:srgbClr val="00D4FF"/>
                </a:solidFill>
                <a:latin typeface="Calibri"/>
                <a:ea typeface="Calibri"/>
                <a:cs typeface="Calibri"/>
                <a:sym typeface="Calibri"/>
              </a:rPr>
              <a:t>(802.11)</a:t>
            </a:r>
            <a:endParaRPr b="0" i="0" sz="1874" u="none" cap="none" strike="noStrike">
              <a:solidFill>
                <a:schemeClr val="dk1"/>
              </a:solidFill>
              <a:latin typeface="Calibri"/>
              <a:ea typeface="Calibri"/>
              <a:cs typeface="Calibri"/>
              <a:sym typeface="Calibri"/>
            </a:endParaRPr>
          </a:p>
        </p:txBody>
      </p:sp>
      <p:sp>
        <p:nvSpPr>
          <p:cNvPr id="96" name="Google Shape;96;p6"/>
          <p:cNvSpPr/>
          <p:nvPr/>
        </p:nvSpPr>
        <p:spPr>
          <a:xfrm>
            <a:off x="6537126" y="3361998"/>
            <a:ext cx="2109600" cy="988500"/>
          </a:xfrm>
          <a:prstGeom prst="rect">
            <a:avLst/>
          </a:prstGeom>
          <a:noFill/>
          <a:ln>
            <a:noFill/>
          </a:ln>
        </p:spPr>
        <p:txBody>
          <a:bodyPr anchorCtr="0" anchor="ctr" bIns="65900" lIns="131825" spcFirstLastPara="1" rIns="131825" wrap="square" tIns="65900">
            <a:noAutofit/>
          </a:bodyPr>
          <a:lstStyle/>
          <a:p>
            <a:pPr indent="0" lvl="0" marL="0" marR="0" rtl="0" algn="ctr">
              <a:spcBef>
                <a:spcPts val="0"/>
              </a:spcBef>
              <a:spcAft>
                <a:spcPts val="0"/>
              </a:spcAft>
              <a:buClr>
                <a:srgbClr val="B0C4D8"/>
              </a:buClr>
              <a:buSzPts val="1586"/>
              <a:buFont typeface="Calibri"/>
              <a:buNone/>
            </a:pPr>
            <a:r>
              <a:rPr b="0" i="0" lang="en-US" sz="1586" u="none" cap="none" strike="noStrike">
                <a:solidFill>
                  <a:srgbClr val="B0C4D8"/>
                </a:solidFill>
                <a:latin typeface="Calibri"/>
                <a:ea typeface="Calibri"/>
                <a:cs typeface="Calibri"/>
                <a:sym typeface="Calibri"/>
              </a:rPr>
              <a:t>Kablosuz istemci</a:t>
            </a:r>
            <a:endParaRPr b="0" i="0" sz="1586"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B0C4D8"/>
              </a:buClr>
              <a:buSzPts val="1586"/>
              <a:buFont typeface="Calibri"/>
              <a:buNone/>
            </a:pPr>
            <a:r>
              <a:rPr b="0" i="0" lang="en-US" sz="1586" u="none" cap="none" strike="noStrike">
                <a:solidFill>
                  <a:srgbClr val="B0C4D8"/>
                </a:solidFill>
                <a:latin typeface="Calibri"/>
                <a:ea typeface="Calibri"/>
                <a:cs typeface="Calibri"/>
                <a:sym typeface="Calibri"/>
              </a:rPr>
              <a:t>erişimi</a:t>
            </a:r>
            <a:endParaRPr b="0" i="0" sz="1586"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628"/>
        </a:solidFill>
      </p:bgPr>
    </p:bg>
    <p:spTree>
      <p:nvGrpSpPr>
        <p:cNvPr id="101" name="Shape 101"/>
        <p:cNvGrpSpPr/>
        <p:nvPr/>
      </p:nvGrpSpPr>
      <p:grpSpPr>
        <a:xfrm>
          <a:off x="0" y="0"/>
          <a:ext cx="0" cy="0"/>
          <a:chOff x="0" y="0"/>
          <a:chExt cx="0" cy="0"/>
        </a:xfrm>
      </p:grpSpPr>
      <p:sp>
        <p:nvSpPr>
          <p:cNvPr id="102" name="Google Shape;102;p7"/>
          <p:cNvSpPr/>
          <p:nvPr/>
        </p:nvSpPr>
        <p:spPr>
          <a:xfrm>
            <a:off x="0" y="0"/>
            <a:ext cx="109728" cy="5143500"/>
          </a:xfrm>
          <a:prstGeom prst="rect">
            <a:avLst/>
          </a:prstGeom>
          <a:solidFill>
            <a:srgbClr val="00D4FF"/>
          </a:solidFill>
          <a:ln cap="flat" cmpd="sng" w="12700">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7"/>
          <p:cNvSpPr/>
          <p:nvPr/>
        </p:nvSpPr>
        <p:spPr>
          <a:xfrm>
            <a:off x="365760" y="228600"/>
            <a:ext cx="841248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600"/>
              <a:buFont typeface="Calibri"/>
              <a:buNone/>
            </a:pPr>
            <a:r>
              <a:rPr b="1" i="0" lang="en-US" sz="2600" u="none" cap="none" strike="noStrike">
                <a:solidFill>
                  <a:srgbClr val="FFFFFF"/>
                </a:solidFill>
                <a:latin typeface="Calibri"/>
                <a:ea typeface="Calibri"/>
                <a:cs typeface="Calibri"/>
                <a:sym typeface="Calibri"/>
              </a:rPr>
              <a:t>Ağ Tasarım Aşamaları</a:t>
            </a:r>
            <a:endParaRPr b="0" i="0" sz="2600" u="none" cap="none" strike="noStrike">
              <a:solidFill>
                <a:schemeClr val="dk1"/>
              </a:solidFill>
              <a:latin typeface="Calibri"/>
              <a:ea typeface="Calibri"/>
              <a:cs typeface="Calibri"/>
              <a:sym typeface="Calibri"/>
            </a:endParaRPr>
          </a:p>
        </p:txBody>
      </p:sp>
      <p:sp>
        <p:nvSpPr>
          <p:cNvPr id="104" name="Google Shape;104;p7"/>
          <p:cNvSpPr/>
          <p:nvPr/>
        </p:nvSpPr>
        <p:spPr>
          <a:xfrm>
            <a:off x="365760" y="713232"/>
            <a:ext cx="8412480" cy="36576"/>
          </a:xfrm>
          <a:prstGeom prst="rect">
            <a:avLst/>
          </a:prstGeom>
          <a:solidFill>
            <a:srgbClr val="0088CC"/>
          </a:solidFill>
          <a:ln cap="flat" cmpd="sng" w="12700">
            <a:solidFill>
              <a:srgbClr val="0088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7"/>
          <p:cNvSpPr/>
          <p:nvPr/>
        </p:nvSpPr>
        <p:spPr>
          <a:xfrm>
            <a:off x="612648" y="1508760"/>
            <a:ext cx="54864" cy="777240"/>
          </a:xfrm>
          <a:prstGeom prst="rect">
            <a:avLst/>
          </a:prstGeom>
          <a:solidFill>
            <a:srgbClr val="0088CC"/>
          </a:solidFill>
          <a:ln cap="flat" cmpd="sng" w="12700">
            <a:solidFill>
              <a:srgbClr val="0088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7"/>
          <p:cNvSpPr/>
          <p:nvPr/>
        </p:nvSpPr>
        <p:spPr>
          <a:xfrm>
            <a:off x="365760" y="960120"/>
            <a:ext cx="548640" cy="548640"/>
          </a:xfrm>
          <a:prstGeom prst="rect">
            <a:avLst/>
          </a:prstGeom>
          <a:solidFill>
            <a:srgbClr val="0088CC"/>
          </a:solidFill>
          <a:ln cap="flat" cmpd="sng" w="12700">
            <a:solidFill>
              <a:srgbClr val="0088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7"/>
          <p:cNvSpPr/>
          <p:nvPr/>
        </p:nvSpPr>
        <p:spPr>
          <a:xfrm>
            <a:off x="365760" y="960120"/>
            <a:ext cx="54864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01</a:t>
            </a:r>
            <a:endParaRPr b="0" i="0" sz="1800" u="none" cap="none" strike="noStrike">
              <a:solidFill>
                <a:schemeClr val="dk1"/>
              </a:solidFill>
              <a:latin typeface="Calibri"/>
              <a:ea typeface="Calibri"/>
              <a:cs typeface="Calibri"/>
              <a:sym typeface="Calibri"/>
            </a:endParaRPr>
          </a:p>
        </p:txBody>
      </p:sp>
      <p:sp>
        <p:nvSpPr>
          <p:cNvPr id="108" name="Google Shape;108;p7"/>
          <p:cNvSpPr/>
          <p:nvPr/>
        </p:nvSpPr>
        <p:spPr>
          <a:xfrm>
            <a:off x="1097280" y="960120"/>
            <a:ext cx="768096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D4FF"/>
              </a:buClr>
              <a:buSzPts val="1500"/>
              <a:buFont typeface="Calibri"/>
              <a:buNone/>
            </a:pPr>
            <a:r>
              <a:rPr b="1" i="0" lang="en-US" sz="1500" u="none" cap="none" strike="noStrike">
                <a:solidFill>
                  <a:srgbClr val="00D4FF"/>
                </a:solidFill>
                <a:latin typeface="Calibri"/>
                <a:ea typeface="Calibri"/>
                <a:cs typeface="Calibri"/>
                <a:sym typeface="Calibri"/>
              </a:rPr>
              <a:t>Gereksinimlerin Belirlenmesi</a:t>
            </a:r>
            <a:endParaRPr b="0" i="0" sz="1500" u="none" cap="none" strike="noStrike">
              <a:solidFill>
                <a:schemeClr val="dk1"/>
              </a:solidFill>
              <a:latin typeface="Calibri"/>
              <a:ea typeface="Calibri"/>
              <a:cs typeface="Calibri"/>
              <a:sym typeface="Calibri"/>
            </a:endParaRPr>
          </a:p>
        </p:txBody>
      </p:sp>
      <p:sp>
        <p:nvSpPr>
          <p:cNvPr id="109" name="Google Shape;109;p7"/>
          <p:cNvSpPr/>
          <p:nvPr/>
        </p:nvSpPr>
        <p:spPr>
          <a:xfrm>
            <a:off x="1097280" y="1325880"/>
            <a:ext cx="7680960" cy="7772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B0C4D8"/>
              </a:buClr>
              <a:buSzPts val="1200"/>
              <a:buFont typeface="Calibri"/>
              <a:buNone/>
            </a:pPr>
            <a:r>
              <a:rPr b="0" i="0" lang="en-US" sz="1200" u="none" cap="none" strike="noStrike">
                <a:solidFill>
                  <a:srgbClr val="B0C4D8"/>
                </a:solidFill>
                <a:latin typeface="Calibri"/>
                <a:ea typeface="Calibri"/>
                <a:cs typeface="Calibri"/>
                <a:sym typeface="Calibri"/>
              </a:rPr>
              <a:t>İnternet kafenin ağ ihtiyaçları analiz edildi. Müşteri, personel ve yönetim kullanıcı kategorileri belirlenerek her kategori için ayrı VLAN ve güvenlik politikaları tanımlandı.</a:t>
            </a:r>
            <a:endParaRPr b="0" i="0" sz="1200" u="none" cap="none" strike="noStrike">
              <a:solidFill>
                <a:schemeClr val="dk1"/>
              </a:solidFill>
              <a:latin typeface="Calibri"/>
              <a:ea typeface="Calibri"/>
              <a:cs typeface="Calibri"/>
              <a:sym typeface="Calibri"/>
            </a:endParaRPr>
          </a:p>
        </p:txBody>
      </p:sp>
      <p:sp>
        <p:nvSpPr>
          <p:cNvPr id="110" name="Google Shape;110;p7"/>
          <p:cNvSpPr/>
          <p:nvPr/>
        </p:nvSpPr>
        <p:spPr>
          <a:xfrm>
            <a:off x="612648" y="2834640"/>
            <a:ext cx="54864" cy="777240"/>
          </a:xfrm>
          <a:prstGeom prst="rect">
            <a:avLst/>
          </a:prstGeom>
          <a:solidFill>
            <a:srgbClr val="0088CC"/>
          </a:solidFill>
          <a:ln cap="flat" cmpd="sng" w="12700">
            <a:solidFill>
              <a:srgbClr val="0088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7"/>
          <p:cNvSpPr/>
          <p:nvPr/>
        </p:nvSpPr>
        <p:spPr>
          <a:xfrm>
            <a:off x="365760" y="2286000"/>
            <a:ext cx="548640" cy="548640"/>
          </a:xfrm>
          <a:prstGeom prst="rect">
            <a:avLst/>
          </a:prstGeom>
          <a:solidFill>
            <a:srgbClr val="0088CC"/>
          </a:solidFill>
          <a:ln cap="flat" cmpd="sng" w="12700">
            <a:solidFill>
              <a:srgbClr val="0088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7"/>
          <p:cNvSpPr/>
          <p:nvPr/>
        </p:nvSpPr>
        <p:spPr>
          <a:xfrm>
            <a:off x="365760" y="2286000"/>
            <a:ext cx="54864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02</a:t>
            </a:r>
            <a:endParaRPr b="0" i="0" sz="1800" u="none" cap="none" strike="noStrike">
              <a:solidFill>
                <a:schemeClr val="dk1"/>
              </a:solidFill>
              <a:latin typeface="Calibri"/>
              <a:ea typeface="Calibri"/>
              <a:cs typeface="Calibri"/>
              <a:sym typeface="Calibri"/>
            </a:endParaRPr>
          </a:p>
        </p:txBody>
      </p:sp>
      <p:sp>
        <p:nvSpPr>
          <p:cNvPr id="113" name="Google Shape;113;p7"/>
          <p:cNvSpPr/>
          <p:nvPr/>
        </p:nvSpPr>
        <p:spPr>
          <a:xfrm>
            <a:off x="1097280" y="2286000"/>
            <a:ext cx="768096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D4FF"/>
              </a:buClr>
              <a:buSzPts val="1500"/>
              <a:buFont typeface="Calibri"/>
              <a:buNone/>
            </a:pPr>
            <a:r>
              <a:rPr b="1" i="0" lang="en-US" sz="1500" u="none" cap="none" strike="noStrike">
                <a:solidFill>
                  <a:srgbClr val="00D4FF"/>
                </a:solidFill>
                <a:latin typeface="Calibri"/>
                <a:ea typeface="Calibri"/>
                <a:cs typeface="Calibri"/>
                <a:sym typeface="Calibri"/>
              </a:rPr>
              <a:t>Topoloji Tasarımı</a:t>
            </a:r>
            <a:endParaRPr b="0" i="0" sz="1500" u="none" cap="none" strike="noStrike">
              <a:solidFill>
                <a:schemeClr val="dk1"/>
              </a:solidFill>
              <a:latin typeface="Calibri"/>
              <a:ea typeface="Calibri"/>
              <a:cs typeface="Calibri"/>
              <a:sym typeface="Calibri"/>
            </a:endParaRPr>
          </a:p>
        </p:txBody>
      </p:sp>
      <p:sp>
        <p:nvSpPr>
          <p:cNvPr id="114" name="Google Shape;114;p7"/>
          <p:cNvSpPr/>
          <p:nvPr/>
        </p:nvSpPr>
        <p:spPr>
          <a:xfrm>
            <a:off x="1097280" y="2651760"/>
            <a:ext cx="7680960" cy="7772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B0C4D8"/>
              </a:buClr>
              <a:buSzPts val="1200"/>
              <a:buFont typeface="Calibri"/>
              <a:buNone/>
            </a:pPr>
            <a:r>
              <a:rPr b="0" i="0" lang="en-US" sz="1200" u="none" cap="none" strike="noStrike">
                <a:solidFill>
                  <a:srgbClr val="B0C4D8"/>
                </a:solidFill>
                <a:latin typeface="Calibri"/>
                <a:ea typeface="Calibri"/>
                <a:cs typeface="Calibri"/>
                <a:sym typeface="Calibri"/>
              </a:rPr>
              <a:t>İki katmanlı ağ modeli (Dağıtım - Erişim) benimsendi. Dağıtım katmanında yönlendirici ve anahtarlar, erişim katmanında uç cihazlara bağlı katman-2 anahtarlar konumlandırıldı.</a:t>
            </a:r>
            <a:endParaRPr b="0" i="0" sz="1200" u="none" cap="none" strike="noStrike">
              <a:solidFill>
                <a:schemeClr val="dk1"/>
              </a:solidFill>
              <a:latin typeface="Calibri"/>
              <a:ea typeface="Calibri"/>
              <a:cs typeface="Calibri"/>
              <a:sym typeface="Calibri"/>
            </a:endParaRPr>
          </a:p>
        </p:txBody>
      </p:sp>
      <p:sp>
        <p:nvSpPr>
          <p:cNvPr id="115" name="Google Shape;115;p7"/>
          <p:cNvSpPr/>
          <p:nvPr/>
        </p:nvSpPr>
        <p:spPr>
          <a:xfrm>
            <a:off x="365760" y="3611880"/>
            <a:ext cx="548640" cy="548640"/>
          </a:xfrm>
          <a:prstGeom prst="rect">
            <a:avLst/>
          </a:prstGeom>
          <a:solidFill>
            <a:srgbClr val="0088CC"/>
          </a:solidFill>
          <a:ln cap="flat" cmpd="sng" w="12700">
            <a:solidFill>
              <a:srgbClr val="0088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7"/>
          <p:cNvSpPr/>
          <p:nvPr/>
        </p:nvSpPr>
        <p:spPr>
          <a:xfrm>
            <a:off x="365760" y="3611880"/>
            <a:ext cx="54864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03</a:t>
            </a:r>
            <a:endParaRPr b="0" i="0" sz="1800" u="none" cap="none" strike="noStrike">
              <a:solidFill>
                <a:schemeClr val="dk1"/>
              </a:solidFill>
              <a:latin typeface="Calibri"/>
              <a:ea typeface="Calibri"/>
              <a:cs typeface="Calibri"/>
              <a:sym typeface="Calibri"/>
            </a:endParaRPr>
          </a:p>
        </p:txBody>
      </p:sp>
      <p:sp>
        <p:nvSpPr>
          <p:cNvPr id="117" name="Google Shape;117;p7"/>
          <p:cNvSpPr/>
          <p:nvPr/>
        </p:nvSpPr>
        <p:spPr>
          <a:xfrm>
            <a:off x="1097280" y="3611880"/>
            <a:ext cx="768096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D4FF"/>
              </a:buClr>
              <a:buSzPts val="1500"/>
              <a:buFont typeface="Calibri"/>
              <a:buNone/>
            </a:pPr>
            <a:r>
              <a:rPr b="1" i="0" lang="en-US" sz="1500" u="none" cap="none" strike="noStrike">
                <a:solidFill>
                  <a:srgbClr val="00D4FF"/>
                </a:solidFill>
                <a:latin typeface="Calibri"/>
                <a:ea typeface="Calibri"/>
                <a:cs typeface="Calibri"/>
                <a:sym typeface="Calibri"/>
              </a:rPr>
              <a:t>Konfigürasyon ve Test</a:t>
            </a:r>
            <a:endParaRPr b="0" i="0" sz="1500" u="none" cap="none" strike="noStrike">
              <a:solidFill>
                <a:schemeClr val="dk1"/>
              </a:solidFill>
              <a:latin typeface="Calibri"/>
              <a:ea typeface="Calibri"/>
              <a:cs typeface="Calibri"/>
              <a:sym typeface="Calibri"/>
            </a:endParaRPr>
          </a:p>
        </p:txBody>
      </p:sp>
      <p:sp>
        <p:nvSpPr>
          <p:cNvPr id="118" name="Google Shape;118;p7"/>
          <p:cNvSpPr/>
          <p:nvPr/>
        </p:nvSpPr>
        <p:spPr>
          <a:xfrm>
            <a:off x="1097280" y="3977640"/>
            <a:ext cx="7680960" cy="7772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B0C4D8"/>
              </a:buClr>
              <a:buSzPts val="1200"/>
              <a:buFont typeface="Calibri"/>
              <a:buNone/>
            </a:pPr>
            <a:r>
              <a:rPr b="0" i="0" lang="en-US" sz="1200" u="none" cap="none" strike="noStrike">
                <a:solidFill>
                  <a:srgbClr val="B0C4D8"/>
                </a:solidFill>
                <a:latin typeface="Calibri"/>
                <a:ea typeface="Calibri"/>
                <a:cs typeface="Calibri"/>
                <a:sym typeface="Calibri"/>
              </a:rPr>
              <a:t>Cisco Packet Tracer üzerinde tüm cihazlar konfigure edildi. Bağlantı testleri ping ve simülasyon modu aracılığıyla doğrulandı.</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628"/>
        </a:solidFill>
      </p:bgPr>
    </p:bg>
    <p:spTree>
      <p:nvGrpSpPr>
        <p:cNvPr id="123" name="Shape 123"/>
        <p:cNvGrpSpPr/>
        <p:nvPr/>
      </p:nvGrpSpPr>
      <p:grpSpPr>
        <a:xfrm>
          <a:off x="0" y="0"/>
          <a:ext cx="0" cy="0"/>
          <a:chOff x="0" y="0"/>
          <a:chExt cx="0" cy="0"/>
        </a:xfrm>
      </p:grpSpPr>
      <p:sp>
        <p:nvSpPr>
          <p:cNvPr id="124" name="Google Shape;124;p8"/>
          <p:cNvSpPr/>
          <p:nvPr/>
        </p:nvSpPr>
        <p:spPr>
          <a:xfrm>
            <a:off x="0" y="0"/>
            <a:ext cx="109728" cy="5143500"/>
          </a:xfrm>
          <a:prstGeom prst="rect">
            <a:avLst/>
          </a:prstGeom>
          <a:solidFill>
            <a:srgbClr val="00D4FF"/>
          </a:solidFill>
          <a:ln cap="flat" cmpd="sng" w="12700">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8"/>
          <p:cNvSpPr/>
          <p:nvPr/>
        </p:nvSpPr>
        <p:spPr>
          <a:xfrm>
            <a:off x="365760" y="228600"/>
            <a:ext cx="841248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600"/>
              <a:buFont typeface="Calibri"/>
              <a:buNone/>
            </a:pPr>
            <a:r>
              <a:rPr b="1" i="0" lang="en-US" sz="2600" u="none" cap="none" strike="noStrike">
                <a:solidFill>
                  <a:srgbClr val="FFFFFF"/>
                </a:solidFill>
                <a:latin typeface="Calibri"/>
                <a:ea typeface="Calibri"/>
                <a:cs typeface="Calibri"/>
                <a:sym typeface="Calibri"/>
              </a:rPr>
              <a:t>VLAN Yapılandırması</a:t>
            </a:r>
            <a:endParaRPr b="0" i="0" sz="2600" u="none" cap="none" strike="noStrike">
              <a:solidFill>
                <a:schemeClr val="dk1"/>
              </a:solidFill>
              <a:latin typeface="Calibri"/>
              <a:ea typeface="Calibri"/>
              <a:cs typeface="Calibri"/>
              <a:sym typeface="Calibri"/>
            </a:endParaRPr>
          </a:p>
        </p:txBody>
      </p:sp>
      <p:sp>
        <p:nvSpPr>
          <p:cNvPr id="126" name="Google Shape;126;p8"/>
          <p:cNvSpPr/>
          <p:nvPr/>
        </p:nvSpPr>
        <p:spPr>
          <a:xfrm>
            <a:off x="365760" y="713232"/>
            <a:ext cx="8412480" cy="36576"/>
          </a:xfrm>
          <a:prstGeom prst="rect">
            <a:avLst/>
          </a:prstGeom>
          <a:solidFill>
            <a:srgbClr val="0088CC"/>
          </a:solidFill>
          <a:ln cap="flat" cmpd="sng" w="12700">
            <a:solidFill>
              <a:srgbClr val="0088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8"/>
          <p:cNvSpPr/>
          <p:nvPr/>
        </p:nvSpPr>
        <p:spPr>
          <a:xfrm>
            <a:off x="365760" y="914400"/>
            <a:ext cx="822960" cy="384048"/>
          </a:xfrm>
          <a:prstGeom prst="rect">
            <a:avLst/>
          </a:prstGeom>
          <a:solidFill>
            <a:srgbClr val="0088CC"/>
          </a:solidFill>
          <a:ln cap="flat" cmpd="sng" w="12700">
            <a:solidFill>
              <a:srgbClr val="0088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8"/>
          <p:cNvSpPr/>
          <p:nvPr/>
        </p:nvSpPr>
        <p:spPr>
          <a:xfrm>
            <a:off x="365760" y="914400"/>
            <a:ext cx="82296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VLAN ID</a:t>
            </a:r>
            <a:endParaRPr b="0" i="0" sz="1300" u="none" cap="none" strike="noStrike">
              <a:solidFill>
                <a:schemeClr val="dk1"/>
              </a:solidFill>
              <a:latin typeface="Calibri"/>
              <a:ea typeface="Calibri"/>
              <a:cs typeface="Calibri"/>
              <a:sym typeface="Calibri"/>
            </a:endParaRPr>
          </a:p>
        </p:txBody>
      </p:sp>
      <p:sp>
        <p:nvSpPr>
          <p:cNvPr id="129" name="Google Shape;129;p8"/>
          <p:cNvSpPr/>
          <p:nvPr/>
        </p:nvSpPr>
        <p:spPr>
          <a:xfrm>
            <a:off x="1280160" y="914400"/>
            <a:ext cx="1371600" cy="384048"/>
          </a:xfrm>
          <a:prstGeom prst="rect">
            <a:avLst/>
          </a:prstGeom>
          <a:solidFill>
            <a:srgbClr val="0088CC"/>
          </a:solidFill>
          <a:ln cap="flat" cmpd="sng" w="12700">
            <a:solidFill>
              <a:srgbClr val="0088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8"/>
          <p:cNvSpPr/>
          <p:nvPr/>
        </p:nvSpPr>
        <p:spPr>
          <a:xfrm>
            <a:off x="1280160" y="914400"/>
            <a:ext cx="137160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Ad</a:t>
            </a:r>
            <a:endParaRPr b="0" i="0" sz="1300" u="none" cap="none" strike="noStrike">
              <a:solidFill>
                <a:schemeClr val="dk1"/>
              </a:solidFill>
              <a:latin typeface="Calibri"/>
              <a:ea typeface="Calibri"/>
              <a:cs typeface="Calibri"/>
              <a:sym typeface="Calibri"/>
            </a:endParaRPr>
          </a:p>
        </p:txBody>
      </p:sp>
      <p:sp>
        <p:nvSpPr>
          <p:cNvPr id="131" name="Google Shape;131;p8"/>
          <p:cNvSpPr/>
          <p:nvPr/>
        </p:nvSpPr>
        <p:spPr>
          <a:xfrm>
            <a:off x="2743200" y="914400"/>
            <a:ext cx="2194560" cy="384048"/>
          </a:xfrm>
          <a:prstGeom prst="rect">
            <a:avLst/>
          </a:prstGeom>
          <a:solidFill>
            <a:srgbClr val="0088CC"/>
          </a:solidFill>
          <a:ln cap="flat" cmpd="sng" w="12700">
            <a:solidFill>
              <a:srgbClr val="0088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8"/>
          <p:cNvSpPr/>
          <p:nvPr/>
        </p:nvSpPr>
        <p:spPr>
          <a:xfrm>
            <a:off x="2743200" y="914400"/>
            <a:ext cx="219456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Bölüm / Kullanım</a:t>
            </a:r>
            <a:endParaRPr b="0" i="0" sz="1300" u="none" cap="none" strike="noStrike">
              <a:solidFill>
                <a:schemeClr val="dk1"/>
              </a:solidFill>
              <a:latin typeface="Calibri"/>
              <a:ea typeface="Calibri"/>
              <a:cs typeface="Calibri"/>
              <a:sym typeface="Calibri"/>
            </a:endParaRPr>
          </a:p>
        </p:txBody>
      </p:sp>
      <p:sp>
        <p:nvSpPr>
          <p:cNvPr id="133" name="Google Shape;133;p8"/>
          <p:cNvSpPr/>
          <p:nvPr/>
        </p:nvSpPr>
        <p:spPr>
          <a:xfrm>
            <a:off x="5029200" y="914400"/>
            <a:ext cx="3749040" cy="384048"/>
          </a:xfrm>
          <a:prstGeom prst="rect">
            <a:avLst/>
          </a:prstGeom>
          <a:solidFill>
            <a:srgbClr val="0088CC"/>
          </a:solidFill>
          <a:ln cap="flat" cmpd="sng" w="12700">
            <a:solidFill>
              <a:srgbClr val="0088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8"/>
          <p:cNvSpPr/>
          <p:nvPr/>
        </p:nvSpPr>
        <p:spPr>
          <a:xfrm>
            <a:off x="5029200" y="914400"/>
            <a:ext cx="374904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Ağ Adresi</a:t>
            </a:r>
            <a:endParaRPr b="0" i="0" sz="1300" u="none" cap="none" strike="noStrike">
              <a:solidFill>
                <a:schemeClr val="dk1"/>
              </a:solidFill>
              <a:latin typeface="Calibri"/>
              <a:ea typeface="Calibri"/>
              <a:cs typeface="Calibri"/>
              <a:sym typeface="Calibri"/>
            </a:endParaRPr>
          </a:p>
        </p:txBody>
      </p:sp>
      <p:sp>
        <p:nvSpPr>
          <p:cNvPr id="135" name="Google Shape;135;p8"/>
          <p:cNvSpPr/>
          <p:nvPr/>
        </p:nvSpPr>
        <p:spPr>
          <a:xfrm>
            <a:off x="365760" y="1298448"/>
            <a:ext cx="822960" cy="438912"/>
          </a:xfrm>
          <a:prstGeom prst="rect">
            <a:avLst/>
          </a:prstGeom>
          <a:solidFill>
            <a:srgbClr val="1A3050"/>
          </a:solidFill>
          <a:ln cap="flat" cmpd="sng" w="12700">
            <a:solidFill>
              <a:srgbClr val="1E3A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8"/>
          <p:cNvSpPr/>
          <p:nvPr/>
        </p:nvSpPr>
        <p:spPr>
          <a:xfrm>
            <a:off x="411480" y="1298448"/>
            <a:ext cx="731520" cy="43891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Calibri"/>
              <a:buNone/>
            </a:pPr>
            <a:r>
              <a:rPr b="0" i="0" lang="en-US" sz="1200" u="none" cap="none" strike="noStrike">
                <a:solidFill>
                  <a:srgbClr val="FFFFFF"/>
                </a:solidFill>
                <a:latin typeface="Calibri"/>
                <a:ea typeface="Calibri"/>
                <a:cs typeface="Calibri"/>
                <a:sym typeface="Calibri"/>
              </a:rPr>
              <a:t>20</a:t>
            </a:r>
            <a:endParaRPr b="0" i="0" sz="1200" u="none" cap="none" strike="noStrike">
              <a:solidFill>
                <a:schemeClr val="dk1"/>
              </a:solidFill>
              <a:latin typeface="Calibri"/>
              <a:ea typeface="Calibri"/>
              <a:cs typeface="Calibri"/>
              <a:sym typeface="Calibri"/>
            </a:endParaRPr>
          </a:p>
        </p:txBody>
      </p:sp>
      <p:sp>
        <p:nvSpPr>
          <p:cNvPr id="137" name="Google Shape;137;p8"/>
          <p:cNvSpPr/>
          <p:nvPr/>
        </p:nvSpPr>
        <p:spPr>
          <a:xfrm>
            <a:off x="1280160" y="1298448"/>
            <a:ext cx="1371600" cy="438912"/>
          </a:xfrm>
          <a:prstGeom prst="rect">
            <a:avLst/>
          </a:prstGeom>
          <a:solidFill>
            <a:srgbClr val="1A3050"/>
          </a:solidFill>
          <a:ln cap="flat" cmpd="sng" w="12700">
            <a:solidFill>
              <a:srgbClr val="1E3A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8"/>
          <p:cNvSpPr/>
          <p:nvPr/>
        </p:nvSpPr>
        <p:spPr>
          <a:xfrm>
            <a:off x="1325880" y="1298448"/>
            <a:ext cx="1280160" cy="43891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Calibri"/>
              <a:buNone/>
            </a:pPr>
            <a:r>
              <a:rPr b="0" i="0" lang="en-US" sz="1200" u="none" cap="none" strike="noStrike">
                <a:solidFill>
                  <a:srgbClr val="FFFFFF"/>
                </a:solidFill>
                <a:latin typeface="Calibri"/>
                <a:ea typeface="Calibri"/>
                <a:cs typeface="Calibri"/>
                <a:sym typeface="Calibri"/>
              </a:rPr>
              <a:t>PERSONEL</a:t>
            </a:r>
            <a:endParaRPr b="0" i="0" sz="1200" u="none" cap="none" strike="noStrike">
              <a:solidFill>
                <a:schemeClr val="dk1"/>
              </a:solidFill>
              <a:latin typeface="Calibri"/>
              <a:ea typeface="Calibri"/>
              <a:cs typeface="Calibri"/>
              <a:sym typeface="Calibri"/>
            </a:endParaRPr>
          </a:p>
        </p:txBody>
      </p:sp>
      <p:sp>
        <p:nvSpPr>
          <p:cNvPr id="139" name="Google Shape;139;p8"/>
          <p:cNvSpPr/>
          <p:nvPr/>
        </p:nvSpPr>
        <p:spPr>
          <a:xfrm>
            <a:off x="2743200" y="1298448"/>
            <a:ext cx="2194560" cy="438912"/>
          </a:xfrm>
          <a:prstGeom prst="rect">
            <a:avLst/>
          </a:prstGeom>
          <a:solidFill>
            <a:srgbClr val="1A3050"/>
          </a:solidFill>
          <a:ln cap="flat" cmpd="sng" w="12700">
            <a:solidFill>
              <a:srgbClr val="1E3A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8"/>
          <p:cNvSpPr/>
          <p:nvPr/>
        </p:nvSpPr>
        <p:spPr>
          <a:xfrm>
            <a:off x="2788920" y="1298448"/>
            <a:ext cx="2103120" cy="43891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Calibri"/>
              <a:buNone/>
            </a:pPr>
            <a:r>
              <a:rPr b="0" i="0" lang="en-US" sz="1200" u="none" cap="none" strike="noStrike">
                <a:solidFill>
                  <a:srgbClr val="FFFFFF"/>
                </a:solidFill>
                <a:latin typeface="Calibri"/>
                <a:ea typeface="Calibri"/>
                <a:cs typeface="Calibri"/>
                <a:sym typeface="Calibri"/>
              </a:rPr>
              <a:t>Personel Bilgisayarları</a:t>
            </a:r>
            <a:endParaRPr b="0" i="0" sz="1200" u="none" cap="none" strike="noStrike">
              <a:solidFill>
                <a:schemeClr val="dk1"/>
              </a:solidFill>
              <a:latin typeface="Calibri"/>
              <a:ea typeface="Calibri"/>
              <a:cs typeface="Calibri"/>
              <a:sym typeface="Calibri"/>
            </a:endParaRPr>
          </a:p>
        </p:txBody>
      </p:sp>
      <p:sp>
        <p:nvSpPr>
          <p:cNvPr id="141" name="Google Shape;141;p8"/>
          <p:cNvSpPr/>
          <p:nvPr/>
        </p:nvSpPr>
        <p:spPr>
          <a:xfrm>
            <a:off x="5029200" y="1298448"/>
            <a:ext cx="3749040" cy="438912"/>
          </a:xfrm>
          <a:prstGeom prst="rect">
            <a:avLst/>
          </a:prstGeom>
          <a:solidFill>
            <a:srgbClr val="1A3050"/>
          </a:solidFill>
          <a:ln cap="flat" cmpd="sng" w="12700">
            <a:solidFill>
              <a:srgbClr val="1E3A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8"/>
          <p:cNvSpPr/>
          <p:nvPr/>
        </p:nvSpPr>
        <p:spPr>
          <a:xfrm>
            <a:off x="5074920" y="1298448"/>
            <a:ext cx="3657600" cy="43891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Calibri"/>
              <a:buNone/>
            </a:pPr>
            <a:r>
              <a:rPr b="0" i="0" lang="en-US" sz="1200" u="none" cap="none" strike="noStrike">
                <a:solidFill>
                  <a:srgbClr val="FFFFFF"/>
                </a:solidFill>
                <a:latin typeface="Calibri"/>
                <a:ea typeface="Calibri"/>
                <a:cs typeface="Calibri"/>
                <a:sym typeface="Calibri"/>
              </a:rPr>
              <a:t>192.168.20.0/24</a:t>
            </a:r>
            <a:endParaRPr b="0" i="0" sz="1200" u="none" cap="none" strike="noStrike">
              <a:solidFill>
                <a:schemeClr val="dk1"/>
              </a:solidFill>
              <a:latin typeface="Calibri"/>
              <a:ea typeface="Calibri"/>
              <a:cs typeface="Calibri"/>
              <a:sym typeface="Calibri"/>
            </a:endParaRPr>
          </a:p>
        </p:txBody>
      </p:sp>
      <p:sp>
        <p:nvSpPr>
          <p:cNvPr id="143" name="Google Shape;143;p8"/>
          <p:cNvSpPr/>
          <p:nvPr/>
        </p:nvSpPr>
        <p:spPr>
          <a:xfrm>
            <a:off x="365760" y="1737360"/>
            <a:ext cx="822960" cy="438912"/>
          </a:xfrm>
          <a:prstGeom prst="rect">
            <a:avLst/>
          </a:prstGeom>
          <a:solidFill>
            <a:srgbClr val="142035"/>
          </a:solidFill>
          <a:ln cap="flat" cmpd="sng" w="12700">
            <a:solidFill>
              <a:srgbClr val="1E3A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8"/>
          <p:cNvSpPr/>
          <p:nvPr/>
        </p:nvSpPr>
        <p:spPr>
          <a:xfrm>
            <a:off x="411480" y="1737360"/>
            <a:ext cx="731520" cy="43891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B0C4D8"/>
              </a:buClr>
              <a:buSzPts val="1200"/>
              <a:buFont typeface="Calibri"/>
              <a:buNone/>
            </a:pPr>
            <a:r>
              <a:rPr b="0" i="0" lang="en-US" sz="1200" u="none" cap="none" strike="noStrike">
                <a:solidFill>
                  <a:srgbClr val="B0C4D8"/>
                </a:solidFill>
                <a:latin typeface="Calibri"/>
                <a:ea typeface="Calibri"/>
                <a:cs typeface="Calibri"/>
                <a:sym typeface="Calibri"/>
              </a:rPr>
              <a:t>30</a:t>
            </a:r>
            <a:endParaRPr b="0" i="0" sz="1200" u="none" cap="none" strike="noStrike">
              <a:solidFill>
                <a:schemeClr val="dk1"/>
              </a:solidFill>
              <a:latin typeface="Calibri"/>
              <a:ea typeface="Calibri"/>
              <a:cs typeface="Calibri"/>
              <a:sym typeface="Calibri"/>
            </a:endParaRPr>
          </a:p>
        </p:txBody>
      </p:sp>
      <p:sp>
        <p:nvSpPr>
          <p:cNvPr id="145" name="Google Shape;145;p8"/>
          <p:cNvSpPr/>
          <p:nvPr/>
        </p:nvSpPr>
        <p:spPr>
          <a:xfrm>
            <a:off x="1280160" y="1737360"/>
            <a:ext cx="1371600" cy="438912"/>
          </a:xfrm>
          <a:prstGeom prst="rect">
            <a:avLst/>
          </a:prstGeom>
          <a:solidFill>
            <a:srgbClr val="142035"/>
          </a:solidFill>
          <a:ln cap="flat" cmpd="sng" w="12700">
            <a:solidFill>
              <a:srgbClr val="1E3A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8"/>
          <p:cNvSpPr/>
          <p:nvPr/>
        </p:nvSpPr>
        <p:spPr>
          <a:xfrm>
            <a:off x="1325880" y="1737360"/>
            <a:ext cx="1280160" cy="43891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B0C4D8"/>
              </a:buClr>
              <a:buSzPts val="1200"/>
              <a:buFont typeface="Calibri"/>
              <a:buNone/>
            </a:pPr>
            <a:r>
              <a:rPr b="0" i="0" lang="en-US" sz="1200" u="none" cap="none" strike="noStrike">
                <a:solidFill>
                  <a:srgbClr val="B0C4D8"/>
                </a:solidFill>
                <a:latin typeface="Calibri"/>
                <a:ea typeface="Calibri"/>
                <a:cs typeface="Calibri"/>
                <a:sym typeface="Calibri"/>
              </a:rPr>
              <a:t>MÜŞTERİ</a:t>
            </a:r>
            <a:endParaRPr b="0" i="0" sz="1200" u="none" cap="none" strike="noStrike">
              <a:solidFill>
                <a:schemeClr val="dk1"/>
              </a:solidFill>
              <a:latin typeface="Calibri"/>
              <a:ea typeface="Calibri"/>
              <a:cs typeface="Calibri"/>
              <a:sym typeface="Calibri"/>
            </a:endParaRPr>
          </a:p>
        </p:txBody>
      </p:sp>
      <p:sp>
        <p:nvSpPr>
          <p:cNvPr id="147" name="Google Shape;147;p8"/>
          <p:cNvSpPr/>
          <p:nvPr/>
        </p:nvSpPr>
        <p:spPr>
          <a:xfrm>
            <a:off x="2743200" y="1737360"/>
            <a:ext cx="2194560" cy="438912"/>
          </a:xfrm>
          <a:prstGeom prst="rect">
            <a:avLst/>
          </a:prstGeom>
          <a:solidFill>
            <a:srgbClr val="142035"/>
          </a:solidFill>
          <a:ln cap="flat" cmpd="sng" w="12700">
            <a:solidFill>
              <a:srgbClr val="1E3A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8"/>
          <p:cNvSpPr/>
          <p:nvPr/>
        </p:nvSpPr>
        <p:spPr>
          <a:xfrm>
            <a:off x="2788920" y="1737360"/>
            <a:ext cx="2103120" cy="43891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B0C4D8"/>
              </a:buClr>
              <a:buSzPts val="1200"/>
              <a:buFont typeface="Calibri"/>
              <a:buNone/>
            </a:pPr>
            <a:r>
              <a:rPr b="0" i="0" lang="en-US" sz="1200" u="none" cap="none" strike="noStrike">
                <a:solidFill>
                  <a:srgbClr val="B0C4D8"/>
                </a:solidFill>
                <a:latin typeface="Calibri"/>
                <a:ea typeface="Calibri"/>
                <a:cs typeface="Calibri"/>
                <a:sym typeface="Calibri"/>
              </a:rPr>
              <a:t>Müşteri Bilgisayarları</a:t>
            </a:r>
            <a:endParaRPr b="0" i="0" sz="1200" u="none" cap="none" strike="noStrike">
              <a:solidFill>
                <a:schemeClr val="dk1"/>
              </a:solidFill>
              <a:latin typeface="Calibri"/>
              <a:ea typeface="Calibri"/>
              <a:cs typeface="Calibri"/>
              <a:sym typeface="Calibri"/>
            </a:endParaRPr>
          </a:p>
        </p:txBody>
      </p:sp>
      <p:sp>
        <p:nvSpPr>
          <p:cNvPr id="149" name="Google Shape;149;p8"/>
          <p:cNvSpPr/>
          <p:nvPr/>
        </p:nvSpPr>
        <p:spPr>
          <a:xfrm>
            <a:off x="5029200" y="1737360"/>
            <a:ext cx="3749040" cy="438912"/>
          </a:xfrm>
          <a:prstGeom prst="rect">
            <a:avLst/>
          </a:prstGeom>
          <a:solidFill>
            <a:srgbClr val="142035"/>
          </a:solidFill>
          <a:ln cap="flat" cmpd="sng" w="12700">
            <a:solidFill>
              <a:srgbClr val="1E3A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8"/>
          <p:cNvSpPr/>
          <p:nvPr/>
        </p:nvSpPr>
        <p:spPr>
          <a:xfrm>
            <a:off x="5074920" y="1737360"/>
            <a:ext cx="3657600" cy="43891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B0C4D8"/>
              </a:buClr>
              <a:buSzPts val="1200"/>
              <a:buFont typeface="Calibri"/>
              <a:buNone/>
            </a:pPr>
            <a:r>
              <a:rPr b="0" i="0" lang="en-US" sz="1200" u="none" cap="none" strike="noStrike">
                <a:solidFill>
                  <a:srgbClr val="B0C4D8"/>
                </a:solidFill>
                <a:latin typeface="Calibri"/>
                <a:ea typeface="Calibri"/>
                <a:cs typeface="Calibri"/>
                <a:sym typeface="Calibri"/>
              </a:rPr>
              <a:t>192.168.30.0/24</a:t>
            </a:r>
            <a:endParaRPr b="0" i="0" sz="1200" u="none" cap="none" strike="noStrike">
              <a:solidFill>
                <a:schemeClr val="dk1"/>
              </a:solidFill>
              <a:latin typeface="Calibri"/>
              <a:ea typeface="Calibri"/>
              <a:cs typeface="Calibri"/>
              <a:sym typeface="Calibri"/>
            </a:endParaRPr>
          </a:p>
        </p:txBody>
      </p:sp>
      <p:sp>
        <p:nvSpPr>
          <p:cNvPr id="151" name="Google Shape;151;p8"/>
          <p:cNvSpPr/>
          <p:nvPr/>
        </p:nvSpPr>
        <p:spPr>
          <a:xfrm>
            <a:off x="365760" y="2176272"/>
            <a:ext cx="822960" cy="438912"/>
          </a:xfrm>
          <a:prstGeom prst="rect">
            <a:avLst/>
          </a:prstGeom>
          <a:solidFill>
            <a:srgbClr val="1A3050"/>
          </a:solidFill>
          <a:ln cap="flat" cmpd="sng" w="12700">
            <a:solidFill>
              <a:srgbClr val="1E3A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8"/>
          <p:cNvSpPr/>
          <p:nvPr/>
        </p:nvSpPr>
        <p:spPr>
          <a:xfrm>
            <a:off x="411480" y="2176272"/>
            <a:ext cx="731520" cy="43891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Calibri"/>
              <a:buNone/>
            </a:pPr>
            <a:r>
              <a:rPr b="0" i="0" lang="en-US" sz="1200" u="none" cap="none" strike="noStrike">
                <a:solidFill>
                  <a:srgbClr val="FFFFFF"/>
                </a:solidFill>
                <a:latin typeface="Calibri"/>
                <a:ea typeface="Calibri"/>
                <a:cs typeface="Calibri"/>
                <a:sym typeface="Calibri"/>
              </a:rPr>
              <a:t>40</a:t>
            </a:r>
            <a:endParaRPr b="0" i="0" sz="1200" u="none" cap="none" strike="noStrike">
              <a:solidFill>
                <a:schemeClr val="dk1"/>
              </a:solidFill>
              <a:latin typeface="Calibri"/>
              <a:ea typeface="Calibri"/>
              <a:cs typeface="Calibri"/>
              <a:sym typeface="Calibri"/>
            </a:endParaRPr>
          </a:p>
        </p:txBody>
      </p:sp>
      <p:sp>
        <p:nvSpPr>
          <p:cNvPr id="153" name="Google Shape;153;p8"/>
          <p:cNvSpPr/>
          <p:nvPr/>
        </p:nvSpPr>
        <p:spPr>
          <a:xfrm>
            <a:off x="1280160" y="2176272"/>
            <a:ext cx="1371600" cy="438912"/>
          </a:xfrm>
          <a:prstGeom prst="rect">
            <a:avLst/>
          </a:prstGeom>
          <a:solidFill>
            <a:srgbClr val="1A3050"/>
          </a:solidFill>
          <a:ln cap="flat" cmpd="sng" w="12700">
            <a:solidFill>
              <a:srgbClr val="1E3A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8"/>
          <p:cNvSpPr/>
          <p:nvPr/>
        </p:nvSpPr>
        <p:spPr>
          <a:xfrm>
            <a:off x="1325880" y="2176272"/>
            <a:ext cx="1280160" cy="43891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Calibri"/>
              <a:buNone/>
            </a:pPr>
            <a:r>
              <a:rPr b="0" i="0" lang="en-US" sz="1200" u="none" cap="none" strike="noStrike">
                <a:solidFill>
                  <a:srgbClr val="FFFFFF"/>
                </a:solidFill>
                <a:latin typeface="Calibri"/>
                <a:ea typeface="Calibri"/>
                <a:cs typeface="Calibri"/>
                <a:sym typeface="Calibri"/>
              </a:rPr>
              <a:t>SUNUCU</a:t>
            </a:r>
            <a:endParaRPr b="0" i="0" sz="1200" u="none" cap="none" strike="noStrike">
              <a:solidFill>
                <a:schemeClr val="dk1"/>
              </a:solidFill>
              <a:latin typeface="Calibri"/>
              <a:ea typeface="Calibri"/>
              <a:cs typeface="Calibri"/>
              <a:sym typeface="Calibri"/>
            </a:endParaRPr>
          </a:p>
        </p:txBody>
      </p:sp>
      <p:sp>
        <p:nvSpPr>
          <p:cNvPr id="155" name="Google Shape;155;p8"/>
          <p:cNvSpPr/>
          <p:nvPr/>
        </p:nvSpPr>
        <p:spPr>
          <a:xfrm>
            <a:off x="2743200" y="2176272"/>
            <a:ext cx="2194560" cy="438912"/>
          </a:xfrm>
          <a:prstGeom prst="rect">
            <a:avLst/>
          </a:prstGeom>
          <a:solidFill>
            <a:srgbClr val="1A3050"/>
          </a:solidFill>
          <a:ln cap="flat" cmpd="sng" w="12700">
            <a:solidFill>
              <a:srgbClr val="1E3A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8"/>
          <p:cNvSpPr/>
          <p:nvPr/>
        </p:nvSpPr>
        <p:spPr>
          <a:xfrm>
            <a:off x="2788920" y="2176272"/>
            <a:ext cx="2103120" cy="43891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Calibri"/>
              <a:buNone/>
            </a:pPr>
            <a:r>
              <a:rPr b="0" i="0" lang="en-US" sz="1200" u="none" cap="none" strike="noStrike">
                <a:solidFill>
                  <a:srgbClr val="FFFFFF"/>
                </a:solidFill>
                <a:latin typeface="Calibri"/>
                <a:ea typeface="Calibri"/>
                <a:cs typeface="Calibri"/>
                <a:sym typeface="Calibri"/>
              </a:rPr>
              <a:t>Sunucu Odası (DNS, DHCP, Web)</a:t>
            </a:r>
            <a:endParaRPr b="0" i="0" sz="1200" u="none" cap="none" strike="noStrike">
              <a:solidFill>
                <a:schemeClr val="dk1"/>
              </a:solidFill>
              <a:latin typeface="Calibri"/>
              <a:ea typeface="Calibri"/>
              <a:cs typeface="Calibri"/>
              <a:sym typeface="Calibri"/>
            </a:endParaRPr>
          </a:p>
        </p:txBody>
      </p:sp>
      <p:sp>
        <p:nvSpPr>
          <p:cNvPr id="157" name="Google Shape;157;p8"/>
          <p:cNvSpPr/>
          <p:nvPr/>
        </p:nvSpPr>
        <p:spPr>
          <a:xfrm>
            <a:off x="5029200" y="2176272"/>
            <a:ext cx="3749040" cy="438912"/>
          </a:xfrm>
          <a:prstGeom prst="rect">
            <a:avLst/>
          </a:prstGeom>
          <a:solidFill>
            <a:srgbClr val="1A3050"/>
          </a:solidFill>
          <a:ln cap="flat" cmpd="sng" w="12700">
            <a:solidFill>
              <a:srgbClr val="1E3A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8"/>
          <p:cNvSpPr/>
          <p:nvPr/>
        </p:nvSpPr>
        <p:spPr>
          <a:xfrm>
            <a:off x="5074920" y="2176272"/>
            <a:ext cx="3657600" cy="43891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Calibri"/>
              <a:buNone/>
            </a:pPr>
            <a:r>
              <a:rPr b="0" i="0" lang="en-US" sz="1200" u="none" cap="none" strike="noStrike">
                <a:solidFill>
                  <a:srgbClr val="FFFFFF"/>
                </a:solidFill>
                <a:latin typeface="Calibri"/>
                <a:ea typeface="Calibri"/>
                <a:cs typeface="Calibri"/>
                <a:sym typeface="Calibri"/>
              </a:rPr>
              <a:t>192.168.40.0/24</a:t>
            </a:r>
            <a:endParaRPr b="0" i="0" sz="1200" u="none" cap="none" strike="noStrike">
              <a:solidFill>
                <a:schemeClr val="dk1"/>
              </a:solidFill>
              <a:latin typeface="Calibri"/>
              <a:ea typeface="Calibri"/>
              <a:cs typeface="Calibri"/>
              <a:sym typeface="Calibri"/>
            </a:endParaRPr>
          </a:p>
        </p:txBody>
      </p:sp>
      <p:sp>
        <p:nvSpPr>
          <p:cNvPr id="159" name="Google Shape;159;p8"/>
          <p:cNvSpPr/>
          <p:nvPr/>
        </p:nvSpPr>
        <p:spPr>
          <a:xfrm>
            <a:off x="365760" y="2615184"/>
            <a:ext cx="822960" cy="438912"/>
          </a:xfrm>
          <a:prstGeom prst="rect">
            <a:avLst/>
          </a:prstGeom>
          <a:solidFill>
            <a:srgbClr val="142035"/>
          </a:solidFill>
          <a:ln cap="flat" cmpd="sng" w="12700">
            <a:solidFill>
              <a:srgbClr val="1E3A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8"/>
          <p:cNvSpPr/>
          <p:nvPr/>
        </p:nvSpPr>
        <p:spPr>
          <a:xfrm>
            <a:off x="411480" y="2615184"/>
            <a:ext cx="731520" cy="43891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B0C4D8"/>
              </a:buClr>
              <a:buSzPts val="1200"/>
              <a:buFont typeface="Calibri"/>
              <a:buNone/>
            </a:pPr>
            <a:r>
              <a:rPr b="0" i="0" lang="en-US" sz="1200" u="none" cap="none" strike="noStrike">
                <a:solidFill>
                  <a:srgbClr val="B0C4D8"/>
                </a:solidFill>
                <a:latin typeface="Calibri"/>
                <a:ea typeface="Calibri"/>
                <a:cs typeface="Calibri"/>
                <a:sym typeface="Calibri"/>
              </a:rPr>
              <a:t>50</a:t>
            </a:r>
            <a:endParaRPr b="0" i="0" sz="1200" u="none" cap="none" strike="noStrike">
              <a:solidFill>
                <a:schemeClr val="dk1"/>
              </a:solidFill>
              <a:latin typeface="Calibri"/>
              <a:ea typeface="Calibri"/>
              <a:cs typeface="Calibri"/>
              <a:sym typeface="Calibri"/>
            </a:endParaRPr>
          </a:p>
        </p:txBody>
      </p:sp>
      <p:sp>
        <p:nvSpPr>
          <p:cNvPr id="161" name="Google Shape;161;p8"/>
          <p:cNvSpPr/>
          <p:nvPr/>
        </p:nvSpPr>
        <p:spPr>
          <a:xfrm>
            <a:off x="1280160" y="2615184"/>
            <a:ext cx="1371600" cy="438912"/>
          </a:xfrm>
          <a:prstGeom prst="rect">
            <a:avLst/>
          </a:prstGeom>
          <a:solidFill>
            <a:srgbClr val="142035"/>
          </a:solidFill>
          <a:ln cap="flat" cmpd="sng" w="12700">
            <a:solidFill>
              <a:srgbClr val="1E3A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8"/>
          <p:cNvSpPr/>
          <p:nvPr/>
        </p:nvSpPr>
        <p:spPr>
          <a:xfrm>
            <a:off x="1325880" y="2615184"/>
            <a:ext cx="1280160" cy="43891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B0C4D8"/>
              </a:buClr>
              <a:buSzPts val="1200"/>
              <a:buFont typeface="Calibri"/>
              <a:buNone/>
            </a:pPr>
            <a:r>
              <a:rPr b="0" i="0" lang="en-US" sz="1200" u="none" cap="none" strike="noStrike">
                <a:solidFill>
                  <a:srgbClr val="B0C4D8"/>
                </a:solidFill>
                <a:latin typeface="Calibri"/>
                <a:ea typeface="Calibri"/>
                <a:cs typeface="Calibri"/>
                <a:sym typeface="Calibri"/>
              </a:rPr>
              <a:t>MİSAFİR</a:t>
            </a:r>
            <a:endParaRPr b="0" i="0" sz="1200" u="none" cap="none" strike="noStrike">
              <a:solidFill>
                <a:schemeClr val="dk1"/>
              </a:solidFill>
              <a:latin typeface="Calibri"/>
              <a:ea typeface="Calibri"/>
              <a:cs typeface="Calibri"/>
              <a:sym typeface="Calibri"/>
            </a:endParaRPr>
          </a:p>
        </p:txBody>
      </p:sp>
      <p:sp>
        <p:nvSpPr>
          <p:cNvPr id="163" name="Google Shape;163;p8"/>
          <p:cNvSpPr/>
          <p:nvPr/>
        </p:nvSpPr>
        <p:spPr>
          <a:xfrm>
            <a:off x="2743200" y="2615184"/>
            <a:ext cx="2194560" cy="438912"/>
          </a:xfrm>
          <a:prstGeom prst="rect">
            <a:avLst/>
          </a:prstGeom>
          <a:solidFill>
            <a:srgbClr val="142035"/>
          </a:solidFill>
          <a:ln cap="flat" cmpd="sng" w="12700">
            <a:solidFill>
              <a:srgbClr val="1E3A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8"/>
          <p:cNvSpPr/>
          <p:nvPr/>
        </p:nvSpPr>
        <p:spPr>
          <a:xfrm>
            <a:off x="2788920" y="2615184"/>
            <a:ext cx="2103120" cy="43891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B0C4D8"/>
              </a:buClr>
              <a:buSzPts val="1200"/>
              <a:buFont typeface="Calibri"/>
              <a:buNone/>
            </a:pPr>
            <a:r>
              <a:rPr b="0" i="0" lang="en-US" sz="1200" u="none" cap="none" strike="noStrike">
                <a:solidFill>
                  <a:srgbClr val="B0C4D8"/>
                </a:solidFill>
                <a:latin typeface="Calibri"/>
                <a:ea typeface="Calibri"/>
                <a:cs typeface="Calibri"/>
                <a:sym typeface="Calibri"/>
              </a:rPr>
              <a:t>Misafir Wi-Fi Erişimi</a:t>
            </a:r>
            <a:endParaRPr b="0" i="0" sz="1200" u="none" cap="none" strike="noStrike">
              <a:solidFill>
                <a:schemeClr val="dk1"/>
              </a:solidFill>
              <a:latin typeface="Calibri"/>
              <a:ea typeface="Calibri"/>
              <a:cs typeface="Calibri"/>
              <a:sym typeface="Calibri"/>
            </a:endParaRPr>
          </a:p>
        </p:txBody>
      </p:sp>
      <p:sp>
        <p:nvSpPr>
          <p:cNvPr id="165" name="Google Shape;165;p8"/>
          <p:cNvSpPr/>
          <p:nvPr/>
        </p:nvSpPr>
        <p:spPr>
          <a:xfrm>
            <a:off x="5029200" y="2615184"/>
            <a:ext cx="3749040" cy="438912"/>
          </a:xfrm>
          <a:prstGeom prst="rect">
            <a:avLst/>
          </a:prstGeom>
          <a:solidFill>
            <a:srgbClr val="142035"/>
          </a:solidFill>
          <a:ln cap="flat" cmpd="sng" w="12700">
            <a:solidFill>
              <a:srgbClr val="1E3A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8"/>
          <p:cNvSpPr/>
          <p:nvPr/>
        </p:nvSpPr>
        <p:spPr>
          <a:xfrm>
            <a:off x="5074920" y="2615184"/>
            <a:ext cx="3657600" cy="43891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B0C4D8"/>
              </a:buClr>
              <a:buSzPts val="1200"/>
              <a:buFont typeface="Calibri"/>
              <a:buNone/>
            </a:pPr>
            <a:r>
              <a:rPr b="0" i="0" lang="en-US" sz="1200" u="none" cap="none" strike="noStrike">
                <a:solidFill>
                  <a:srgbClr val="B0C4D8"/>
                </a:solidFill>
                <a:latin typeface="Calibri"/>
                <a:ea typeface="Calibri"/>
                <a:cs typeface="Calibri"/>
                <a:sym typeface="Calibri"/>
              </a:rPr>
              <a:t>192.168.50.0/24</a:t>
            </a:r>
            <a:endParaRPr b="0" i="0" sz="1200" u="none" cap="none" strike="noStrike">
              <a:solidFill>
                <a:schemeClr val="dk1"/>
              </a:solidFill>
              <a:latin typeface="Calibri"/>
              <a:ea typeface="Calibri"/>
              <a:cs typeface="Calibri"/>
              <a:sym typeface="Calibri"/>
            </a:endParaRPr>
          </a:p>
        </p:txBody>
      </p:sp>
      <p:sp>
        <p:nvSpPr>
          <p:cNvPr id="167" name="Google Shape;167;p8"/>
          <p:cNvSpPr/>
          <p:nvPr/>
        </p:nvSpPr>
        <p:spPr>
          <a:xfrm>
            <a:off x="365760" y="3246120"/>
            <a:ext cx="841248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0C4D8"/>
              </a:buClr>
              <a:buSzPts val="1200"/>
              <a:buFont typeface="Calibri"/>
              <a:buNone/>
            </a:pPr>
            <a:r>
              <a:rPr b="0" i="1" lang="en-US" sz="1200" u="none" cap="none" strike="noStrike">
                <a:solidFill>
                  <a:srgbClr val="B0C4D8"/>
                </a:solidFill>
                <a:latin typeface="Calibri"/>
                <a:ea typeface="Calibri"/>
                <a:cs typeface="Calibri"/>
                <a:sym typeface="Calibri"/>
              </a:rPr>
              <a:t>Trunk bağlantılar (802.1Q) anahtarlar ile yönlendirici arasında yapılandırılmış; her VLAN için ayrı IP aralığı tanımlanarak broadcast domain'ler yalıtılmıştır.</a:t>
            </a:r>
            <a:endParaRPr b="0" i="0" sz="1200" u="none" cap="none" strike="noStrike">
              <a:solidFill>
                <a:schemeClr val="dk1"/>
              </a:solidFill>
              <a:latin typeface="Calibri"/>
              <a:ea typeface="Calibri"/>
              <a:cs typeface="Calibri"/>
              <a:sym typeface="Calibri"/>
            </a:endParaRPr>
          </a:p>
        </p:txBody>
      </p:sp>
      <p:sp>
        <p:nvSpPr>
          <p:cNvPr id="168" name="Google Shape;168;p8"/>
          <p:cNvSpPr/>
          <p:nvPr/>
        </p:nvSpPr>
        <p:spPr>
          <a:xfrm>
            <a:off x="365760" y="3840480"/>
            <a:ext cx="1828800" cy="685800"/>
          </a:xfrm>
          <a:prstGeom prst="rect">
            <a:avLst/>
          </a:prstGeom>
          <a:solidFill>
            <a:srgbClr val="2E86AB"/>
          </a:solidFill>
          <a:ln cap="flat" cmpd="sng" w="12700">
            <a:solidFill>
              <a:srgbClr val="2E86A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8"/>
          <p:cNvSpPr/>
          <p:nvPr/>
        </p:nvSpPr>
        <p:spPr>
          <a:xfrm>
            <a:off x="365760" y="3840480"/>
            <a:ext cx="1828800"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VLAN 20</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Personel</a:t>
            </a:r>
            <a:endParaRPr b="0" i="0" sz="1100" u="none" cap="none" strike="noStrike">
              <a:solidFill>
                <a:schemeClr val="dk1"/>
              </a:solidFill>
              <a:latin typeface="Calibri"/>
              <a:ea typeface="Calibri"/>
              <a:cs typeface="Calibri"/>
              <a:sym typeface="Calibri"/>
            </a:endParaRPr>
          </a:p>
        </p:txBody>
      </p:sp>
      <p:sp>
        <p:nvSpPr>
          <p:cNvPr id="170" name="Google Shape;170;p8"/>
          <p:cNvSpPr/>
          <p:nvPr/>
        </p:nvSpPr>
        <p:spPr>
          <a:xfrm>
            <a:off x="2468880" y="3840480"/>
            <a:ext cx="1828800" cy="685800"/>
          </a:xfrm>
          <a:prstGeom prst="rect">
            <a:avLst/>
          </a:prstGeom>
          <a:solidFill>
            <a:srgbClr val="A23B72"/>
          </a:solidFill>
          <a:ln cap="flat" cmpd="sng" w="12700">
            <a:solidFill>
              <a:srgbClr val="A23B7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8"/>
          <p:cNvSpPr/>
          <p:nvPr/>
        </p:nvSpPr>
        <p:spPr>
          <a:xfrm>
            <a:off x="2468880" y="3840480"/>
            <a:ext cx="1828800"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VLAN 30</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Müşteri</a:t>
            </a:r>
            <a:endParaRPr b="0" i="0" sz="1100" u="none" cap="none" strike="noStrike">
              <a:solidFill>
                <a:schemeClr val="dk1"/>
              </a:solidFill>
              <a:latin typeface="Calibri"/>
              <a:ea typeface="Calibri"/>
              <a:cs typeface="Calibri"/>
              <a:sym typeface="Calibri"/>
            </a:endParaRPr>
          </a:p>
        </p:txBody>
      </p:sp>
      <p:sp>
        <p:nvSpPr>
          <p:cNvPr id="172" name="Google Shape;172;p8"/>
          <p:cNvSpPr/>
          <p:nvPr/>
        </p:nvSpPr>
        <p:spPr>
          <a:xfrm>
            <a:off x="4572000" y="3840480"/>
            <a:ext cx="1828800" cy="685800"/>
          </a:xfrm>
          <a:prstGeom prst="rect">
            <a:avLst/>
          </a:prstGeom>
          <a:solidFill>
            <a:srgbClr val="F18F01"/>
          </a:solidFill>
          <a:ln cap="flat" cmpd="sng" w="12700">
            <a:solidFill>
              <a:srgbClr val="F18F0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8"/>
          <p:cNvSpPr/>
          <p:nvPr/>
        </p:nvSpPr>
        <p:spPr>
          <a:xfrm>
            <a:off x="4572000" y="3840480"/>
            <a:ext cx="1828800"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VLAN 40</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Sunucu</a:t>
            </a:r>
            <a:endParaRPr b="0" i="0" sz="1100" u="none" cap="none" strike="noStrike">
              <a:solidFill>
                <a:schemeClr val="dk1"/>
              </a:solidFill>
              <a:latin typeface="Calibri"/>
              <a:ea typeface="Calibri"/>
              <a:cs typeface="Calibri"/>
              <a:sym typeface="Calibri"/>
            </a:endParaRPr>
          </a:p>
        </p:txBody>
      </p:sp>
      <p:sp>
        <p:nvSpPr>
          <p:cNvPr id="174" name="Google Shape;174;p8"/>
          <p:cNvSpPr/>
          <p:nvPr/>
        </p:nvSpPr>
        <p:spPr>
          <a:xfrm>
            <a:off x="6675120" y="3840480"/>
            <a:ext cx="1828800" cy="685800"/>
          </a:xfrm>
          <a:prstGeom prst="rect">
            <a:avLst/>
          </a:prstGeom>
          <a:solidFill>
            <a:srgbClr val="2EC4B6"/>
          </a:solidFill>
          <a:ln cap="flat" cmpd="sng" w="12700">
            <a:solidFill>
              <a:srgbClr val="2EC4B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8"/>
          <p:cNvSpPr/>
          <p:nvPr/>
        </p:nvSpPr>
        <p:spPr>
          <a:xfrm>
            <a:off x="6675120" y="3840480"/>
            <a:ext cx="1828800"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VLAN 50</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Misafir</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628"/>
        </a:solidFill>
      </p:bgPr>
    </p:bg>
    <p:spTree>
      <p:nvGrpSpPr>
        <p:cNvPr id="180" name="Shape 180"/>
        <p:cNvGrpSpPr/>
        <p:nvPr/>
      </p:nvGrpSpPr>
      <p:grpSpPr>
        <a:xfrm>
          <a:off x="0" y="0"/>
          <a:ext cx="0" cy="0"/>
          <a:chOff x="0" y="0"/>
          <a:chExt cx="0" cy="0"/>
        </a:xfrm>
      </p:grpSpPr>
      <p:sp>
        <p:nvSpPr>
          <p:cNvPr id="181" name="Google Shape;181;p9"/>
          <p:cNvSpPr/>
          <p:nvPr/>
        </p:nvSpPr>
        <p:spPr>
          <a:xfrm>
            <a:off x="0" y="0"/>
            <a:ext cx="109728" cy="5143500"/>
          </a:xfrm>
          <a:prstGeom prst="rect">
            <a:avLst/>
          </a:prstGeom>
          <a:solidFill>
            <a:srgbClr val="00D4FF"/>
          </a:solidFill>
          <a:ln cap="flat" cmpd="sng" w="12700">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9"/>
          <p:cNvSpPr/>
          <p:nvPr/>
        </p:nvSpPr>
        <p:spPr>
          <a:xfrm>
            <a:off x="365760" y="228600"/>
            <a:ext cx="841248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600"/>
              <a:buFont typeface="Calibri"/>
              <a:buNone/>
            </a:pPr>
            <a:r>
              <a:rPr b="1" i="0" lang="en-US" sz="2600" u="none" cap="none" strike="noStrike">
                <a:solidFill>
                  <a:srgbClr val="FFFFFF"/>
                </a:solidFill>
                <a:latin typeface="Calibri"/>
                <a:ea typeface="Calibri"/>
                <a:cs typeface="Calibri"/>
                <a:sym typeface="Calibri"/>
              </a:rPr>
              <a:t>Kablosuz Ağ (Wi-Fi) Desteği</a:t>
            </a:r>
            <a:endParaRPr b="0" i="0" sz="2600" u="none" cap="none" strike="noStrike">
              <a:solidFill>
                <a:schemeClr val="dk1"/>
              </a:solidFill>
              <a:latin typeface="Calibri"/>
              <a:ea typeface="Calibri"/>
              <a:cs typeface="Calibri"/>
              <a:sym typeface="Calibri"/>
            </a:endParaRPr>
          </a:p>
        </p:txBody>
      </p:sp>
      <p:sp>
        <p:nvSpPr>
          <p:cNvPr id="183" name="Google Shape;183;p9"/>
          <p:cNvSpPr/>
          <p:nvPr/>
        </p:nvSpPr>
        <p:spPr>
          <a:xfrm>
            <a:off x="365760" y="713232"/>
            <a:ext cx="8412480" cy="36576"/>
          </a:xfrm>
          <a:prstGeom prst="rect">
            <a:avLst/>
          </a:prstGeom>
          <a:solidFill>
            <a:srgbClr val="0088CC"/>
          </a:solidFill>
          <a:ln cap="flat" cmpd="sng" w="12700">
            <a:solidFill>
              <a:srgbClr val="0088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9"/>
          <p:cNvSpPr/>
          <p:nvPr/>
        </p:nvSpPr>
        <p:spPr>
          <a:xfrm>
            <a:off x="365760" y="868680"/>
            <a:ext cx="841248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0C4D8"/>
              </a:buClr>
              <a:buSzPts val="1200"/>
              <a:buFont typeface="Calibri"/>
              <a:buNone/>
            </a:pPr>
            <a:r>
              <a:rPr b="0" i="0" lang="en-US" sz="1200" u="none" cap="none" strike="noStrike">
                <a:solidFill>
                  <a:srgbClr val="B0C4D8"/>
                </a:solidFill>
                <a:latin typeface="Calibri"/>
                <a:ea typeface="Calibri"/>
                <a:cs typeface="Calibri"/>
                <a:sym typeface="Calibri"/>
              </a:rPr>
              <a:t>Müşteri salonu, bekleme köşesi ve giriş alanlarına kablosuz erişim noktaları (AP) yerleştirilmiştir. Her AP ilgili VLAN'a trunk bağlantı üzerinden bağlanmıştır.</a:t>
            </a:r>
            <a:endParaRPr b="0" i="0" sz="1200" u="none" cap="none" strike="noStrike">
              <a:solidFill>
                <a:schemeClr val="dk1"/>
              </a:solidFill>
              <a:latin typeface="Calibri"/>
              <a:ea typeface="Calibri"/>
              <a:cs typeface="Calibri"/>
              <a:sym typeface="Calibri"/>
            </a:endParaRPr>
          </a:p>
        </p:txBody>
      </p:sp>
      <p:sp>
        <p:nvSpPr>
          <p:cNvPr id="185" name="Google Shape;185;p9"/>
          <p:cNvSpPr/>
          <p:nvPr/>
        </p:nvSpPr>
        <p:spPr>
          <a:xfrm>
            <a:off x="365760" y="1508760"/>
            <a:ext cx="2651760" cy="2377440"/>
          </a:xfrm>
          <a:prstGeom prst="rect">
            <a:avLst/>
          </a:prstGeom>
          <a:solidFill>
            <a:srgbClr val="1A3050"/>
          </a:solidFill>
          <a:ln cap="flat" cmpd="sng" w="25400">
            <a:solidFill>
              <a:srgbClr val="2E86A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9"/>
          <p:cNvSpPr/>
          <p:nvPr/>
        </p:nvSpPr>
        <p:spPr>
          <a:xfrm>
            <a:off x="365760" y="1508760"/>
            <a:ext cx="2651760" cy="384048"/>
          </a:xfrm>
          <a:prstGeom prst="rect">
            <a:avLst/>
          </a:prstGeom>
          <a:solidFill>
            <a:srgbClr val="2E86AB"/>
          </a:solidFill>
          <a:ln cap="flat" cmpd="sng" w="12700">
            <a:solidFill>
              <a:srgbClr val="2E86A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9"/>
          <p:cNvSpPr/>
          <p:nvPr/>
        </p:nvSpPr>
        <p:spPr>
          <a:xfrm>
            <a:off x="365760" y="1508760"/>
            <a:ext cx="265176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VLAN 20</a:t>
            </a:r>
            <a:endParaRPr b="0" i="0" sz="1300" u="none" cap="none" strike="noStrike">
              <a:solidFill>
                <a:schemeClr val="dk1"/>
              </a:solidFill>
              <a:latin typeface="Calibri"/>
              <a:ea typeface="Calibri"/>
              <a:cs typeface="Calibri"/>
              <a:sym typeface="Calibri"/>
            </a:endParaRPr>
          </a:p>
        </p:txBody>
      </p:sp>
      <p:sp>
        <p:nvSpPr>
          <p:cNvPr id="188" name="Google Shape;188;p9"/>
          <p:cNvSpPr/>
          <p:nvPr/>
        </p:nvSpPr>
        <p:spPr>
          <a:xfrm>
            <a:off x="502920" y="1965960"/>
            <a:ext cx="2377440" cy="1783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D4FF"/>
              </a:buClr>
              <a:buSzPts val="1100"/>
              <a:buFont typeface="Calibri"/>
              <a:buNone/>
            </a:pPr>
            <a:r>
              <a:rPr b="1" i="0" lang="en-US" sz="1100" u="none" cap="none" strike="noStrike">
                <a:solidFill>
                  <a:srgbClr val="00D4FF"/>
                </a:solidFill>
                <a:latin typeface="Calibri"/>
                <a:ea typeface="Calibri"/>
                <a:cs typeface="Calibri"/>
                <a:sym typeface="Calibri"/>
              </a:rPr>
              <a:t>SSID:</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1100"/>
              <a:buFont typeface="Calibri"/>
              <a:buNone/>
            </a:pPr>
            <a:r>
              <a:rPr b="0" i="0" lang="en-US" sz="1100" u="none" cap="none" strike="noStrike">
                <a:solidFill>
                  <a:srgbClr val="FFFFFF"/>
                </a:solidFill>
                <a:latin typeface="Calibri"/>
                <a:ea typeface="Calibri"/>
                <a:cs typeface="Calibri"/>
                <a:sym typeface="Calibri"/>
              </a:rPr>
              <a:t>KampusNet_Personel</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0D4FF"/>
              </a:buClr>
              <a:buSzPts val="1100"/>
              <a:buFont typeface="Calibri"/>
              <a:buNone/>
            </a:pPr>
            <a:r>
              <a:rPr b="1" i="0" lang="en-US" sz="1100" u="none" cap="none" strike="noStrike">
                <a:solidFill>
                  <a:srgbClr val="00D4FF"/>
                </a:solidFill>
                <a:latin typeface="Calibri"/>
                <a:ea typeface="Calibri"/>
                <a:cs typeface="Calibri"/>
                <a:sym typeface="Calibri"/>
              </a:rPr>
              <a:t>Güvenlik:</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1100"/>
              <a:buFont typeface="Calibri"/>
              <a:buNone/>
            </a:pPr>
            <a:r>
              <a:rPr b="0" i="0" lang="en-US" sz="1100" u="none" cap="none" strike="noStrike">
                <a:solidFill>
                  <a:srgbClr val="FFFFFF"/>
                </a:solidFill>
                <a:latin typeface="Calibri"/>
                <a:ea typeface="Calibri"/>
                <a:cs typeface="Calibri"/>
                <a:sym typeface="Calibri"/>
              </a:rPr>
              <a:t>WPA2 Şifreli</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0D4FF"/>
              </a:buClr>
              <a:buSzPts val="1100"/>
              <a:buFont typeface="Calibri"/>
              <a:buNone/>
            </a:pPr>
            <a:r>
              <a:rPr b="1" i="0" lang="en-US" sz="1100" u="none" cap="none" strike="noStrike">
                <a:solidFill>
                  <a:srgbClr val="00D4FF"/>
                </a:solidFill>
                <a:latin typeface="Calibri"/>
                <a:ea typeface="Calibri"/>
                <a:cs typeface="Calibri"/>
                <a:sym typeface="Calibri"/>
              </a:rPr>
              <a:t>Açıklama:</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B0C4D8"/>
              </a:buClr>
              <a:buSzPts val="1100"/>
              <a:buFont typeface="Calibri"/>
              <a:buNone/>
            </a:pPr>
            <a:r>
              <a:rPr b="0" i="0" lang="en-US" sz="1100" u="none" cap="none" strike="noStrike">
                <a:solidFill>
                  <a:srgbClr val="B0C4D8"/>
                </a:solidFill>
                <a:latin typeface="Calibri"/>
                <a:ea typeface="Calibri"/>
                <a:cs typeface="Calibri"/>
                <a:sym typeface="Calibri"/>
              </a:rPr>
              <a:t>Yalnızca personel erişimi</a:t>
            </a:r>
            <a:endParaRPr b="0" i="0" sz="1100" u="none" cap="none" strike="noStrike">
              <a:solidFill>
                <a:schemeClr val="dk1"/>
              </a:solidFill>
              <a:latin typeface="Calibri"/>
              <a:ea typeface="Calibri"/>
              <a:cs typeface="Calibri"/>
              <a:sym typeface="Calibri"/>
            </a:endParaRPr>
          </a:p>
        </p:txBody>
      </p:sp>
      <p:sp>
        <p:nvSpPr>
          <p:cNvPr id="189" name="Google Shape;189;p9"/>
          <p:cNvSpPr/>
          <p:nvPr/>
        </p:nvSpPr>
        <p:spPr>
          <a:xfrm>
            <a:off x="3291840" y="1508760"/>
            <a:ext cx="2651760" cy="2377440"/>
          </a:xfrm>
          <a:prstGeom prst="rect">
            <a:avLst/>
          </a:prstGeom>
          <a:solidFill>
            <a:srgbClr val="1A3050"/>
          </a:solidFill>
          <a:ln cap="flat" cmpd="sng" w="25400">
            <a:solidFill>
              <a:srgbClr val="A23B7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9"/>
          <p:cNvSpPr/>
          <p:nvPr/>
        </p:nvSpPr>
        <p:spPr>
          <a:xfrm>
            <a:off x="3291840" y="1508760"/>
            <a:ext cx="2651760" cy="384048"/>
          </a:xfrm>
          <a:prstGeom prst="rect">
            <a:avLst/>
          </a:prstGeom>
          <a:solidFill>
            <a:srgbClr val="A23B72"/>
          </a:solidFill>
          <a:ln cap="flat" cmpd="sng" w="12700">
            <a:solidFill>
              <a:srgbClr val="A23B7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9"/>
          <p:cNvSpPr/>
          <p:nvPr/>
        </p:nvSpPr>
        <p:spPr>
          <a:xfrm>
            <a:off x="3291840" y="1508760"/>
            <a:ext cx="265176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VLAN 30</a:t>
            </a:r>
            <a:endParaRPr b="0" i="0" sz="1300" u="none" cap="none" strike="noStrike">
              <a:solidFill>
                <a:schemeClr val="dk1"/>
              </a:solidFill>
              <a:latin typeface="Calibri"/>
              <a:ea typeface="Calibri"/>
              <a:cs typeface="Calibri"/>
              <a:sym typeface="Calibri"/>
            </a:endParaRPr>
          </a:p>
        </p:txBody>
      </p:sp>
      <p:sp>
        <p:nvSpPr>
          <p:cNvPr id="192" name="Google Shape;192;p9"/>
          <p:cNvSpPr/>
          <p:nvPr/>
        </p:nvSpPr>
        <p:spPr>
          <a:xfrm>
            <a:off x="3429000" y="1965960"/>
            <a:ext cx="2377440" cy="1783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D4FF"/>
              </a:buClr>
              <a:buSzPts val="1100"/>
              <a:buFont typeface="Calibri"/>
              <a:buNone/>
            </a:pPr>
            <a:r>
              <a:rPr b="1" i="0" lang="en-US" sz="1100" u="none" cap="none" strike="noStrike">
                <a:solidFill>
                  <a:srgbClr val="00D4FF"/>
                </a:solidFill>
                <a:latin typeface="Calibri"/>
                <a:ea typeface="Calibri"/>
                <a:cs typeface="Calibri"/>
                <a:sym typeface="Calibri"/>
              </a:rPr>
              <a:t>SSID:</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1100"/>
              <a:buFont typeface="Calibri"/>
              <a:buNone/>
            </a:pPr>
            <a:r>
              <a:rPr b="0" i="0" lang="en-US" sz="1100" u="none" cap="none" strike="noStrike">
                <a:solidFill>
                  <a:srgbClr val="FFFFFF"/>
                </a:solidFill>
                <a:latin typeface="Calibri"/>
                <a:ea typeface="Calibri"/>
                <a:cs typeface="Calibri"/>
                <a:sym typeface="Calibri"/>
              </a:rPr>
              <a:t>KampusNet_Musteri</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0D4FF"/>
              </a:buClr>
              <a:buSzPts val="1100"/>
              <a:buFont typeface="Calibri"/>
              <a:buNone/>
            </a:pPr>
            <a:r>
              <a:rPr b="1" i="0" lang="en-US" sz="1100" u="none" cap="none" strike="noStrike">
                <a:solidFill>
                  <a:srgbClr val="00D4FF"/>
                </a:solidFill>
                <a:latin typeface="Calibri"/>
                <a:ea typeface="Calibri"/>
                <a:cs typeface="Calibri"/>
                <a:sym typeface="Calibri"/>
              </a:rPr>
              <a:t>Güvenlik:</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1100"/>
              <a:buFont typeface="Calibri"/>
              <a:buNone/>
            </a:pPr>
            <a:r>
              <a:rPr b="0" i="0" lang="en-US" sz="1100" u="none" cap="none" strike="noStrike">
                <a:solidFill>
                  <a:srgbClr val="FFFFFF"/>
                </a:solidFill>
                <a:latin typeface="Calibri"/>
                <a:ea typeface="Calibri"/>
                <a:cs typeface="Calibri"/>
                <a:sym typeface="Calibri"/>
              </a:rPr>
              <a:t>WPA2 Şifreli</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0D4FF"/>
              </a:buClr>
              <a:buSzPts val="1100"/>
              <a:buFont typeface="Calibri"/>
              <a:buNone/>
            </a:pPr>
            <a:r>
              <a:rPr b="1" i="0" lang="en-US" sz="1100" u="none" cap="none" strike="noStrike">
                <a:solidFill>
                  <a:srgbClr val="00D4FF"/>
                </a:solidFill>
                <a:latin typeface="Calibri"/>
                <a:ea typeface="Calibri"/>
                <a:cs typeface="Calibri"/>
                <a:sym typeface="Calibri"/>
              </a:rPr>
              <a:t>Açıklama:</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B0C4D8"/>
              </a:buClr>
              <a:buSzPts val="1100"/>
              <a:buFont typeface="Calibri"/>
              <a:buNone/>
            </a:pPr>
            <a:r>
              <a:rPr b="0" i="0" lang="en-US" sz="1100" u="none" cap="none" strike="noStrike">
                <a:solidFill>
                  <a:srgbClr val="B0C4D8"/>
                </a:solidFill>
                <a:latin typeface="Calibri"/>
                <a:ea typeface="Calibri"/>
                <a:cs typeface="Calibri"/>
                <a:sym typeface="Calibri"/>
              </a:rPr>
              <a:t>Müşteri tam erişim</a:t>
            </a:r>
            <a:endParaRPr b="0" i="0" sz="1100" u="none" cap="none" strike="noStrike">
              <a:solidFill>
                <a:schemeClr val="dk1"/>
              </a:solidFill>
              <a:latin typeface="Calibri"/>
              <a:ea typeface="Calibri"/>
              <a:cs typeface="Calibri"/>
              <a:sym typeface="Calibri"/>
            </a:endParaRPr>
          </a:p>
        </p:txBody>
      </p:sp>
      <p:sp>
        <p:nvSpPr>
          <p:cNvPr id="193" name="Google Shape;193;p9"/>
          <p:cNvSpPr/>
          <p:nvPr/>
        </p:nvSpPr>
        <p:spPr>
          <a:xfrm>
            <a:off x="6217920" y="1508760"/>
            <a:ext cx="2651760" cy="2377440"/>
          </a:xfrm>
          <a:prstGeom prst="rect">
            <a:avLst/>
          </a:prstGeom>
          <a:solidFill>
            <a:srgbClr val="1A3050"/>
          </a:solidFill>
          <a:ln cap="flat" cmpd="sng" w="25400">
            <a:solidFill>
              <a:srgbClr val="F18F0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9"/>
          <p:cNvSpPr/>
          <p:nvPr/>
        </p:nvSpPr>
        <p:spPr>
          <a:xfrm>
            <a:off x="6217920" y="1508760"/>
            <a:ext cx="2651760" cy="384048"/>
          </a:xfrm>
          <a:prstGeom prst="rect">
            <a:avLst/>
          </a:prstGeom>
          <a:solidFill>
            <a:srgbClr val="F18F01"/>
          </a:solidFill>
          <a:ln cap="flat" cmpd="sng" w="12700">
            <a:solidFill>
              <a:srgbClr val="F18F0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9"/>
          <p:cNvSpPr/>
          <p:nvPr/>
        </p:nvSpPr>
        <p:spPr>
          <a:xfrm>
            <a:off x="6217920" y="1508760"/>
            <a:ext cx="265176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VLAN 50</a:t>
            </a:r>
            <a:endParaRPr b="0" i="0" sz="1300" u="none" cap="none" strike="noStrike">
              <a:solidFill>
                <a:schemeClr val="dk1"/>
              </a:solidFill>
              <a:latin typeface="Calibri"/>
              <a:ea typeface="Calibri"/>
              <a:cs typeface="Calibri"/>
              <a:sym typeface="Calibri"/>
            </a:endParaRPr>
          </a:p>
        </p:txBody>
      </p:sp>
      <p:sp>
        <p:nvSpPr>
          <p:cNvPr id="196" name="Google Shape;196;p9"/>
          <p:cNvSpPr/>
          <p:nvPr/>
        </p:nvSpPr>
        <p:spPr>
          <a:xfrm>
            <a:off x="6355080" y="1965960"/>
            <a:ext cx="2377440" cy="1783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D4FF"/>
              </a:buClr>
              <a:buSzPts val="1100"/>
              <a:buFont typeface="Calibri"/>
              <a:buNone/>
            </a:pPr>
            <a:r>
              <a:rPr b="1" i="0" lang="en-US" sz="1100" u="none" cap="none" strike="noStrike">
                <a:solidFill>
                  <a:srgbClr val="00D4FF"/>
                </a:solidFill>
                <a:latin typeface="Calibri"/>
                <a:ea typeface="Calibri"/>
                <a:cs typeface="Calibri"/>
                <a:sym typeface="Calibri"/>
              </a:rPr>
              <a:t>SSID:</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1100"/>
              <a:buFont typeface="Calibri"/>
              <a:buNone/>
            </a:pPr>
            <a:r>
              <a:rPr b="0" i="0" lang="en-US" sz="1100" u="none" cap="none" strike="noStrike">
                <a:solidFill>
                  <a:srgbClr val="FFFFFF"/>
                </a:solidFill>
                <a:latin typeface="Calibri"/>
                <a:ea typeface="Calibri"/>
                <a:cs typeface="Calibri"/>
                <a:sym typeface="Calibri"/>
              </a:rPr>
              <a:t>KampusNet_Misafir</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0D4FF"/>
              </a:buClr>
              <a:buSzPts val="1100"/>
              <a:buFont typeface="Calibri"/>
              <a:buNone/>
            </a:pPr>
            <a:r>
              <a:rPr b="1" i="0" lang="en-US" sz="1100" u="none" cap="none" strike="noStrike">
                <a:solidFill>
                  <a:srgbClr val="00D4FF"/>
                </a:solidFill>
                <a:latin typeface="Calibri"/>
                <a:ea typeface="Calibri"/>
                <a:cs typeface="Calibri"/>
                <a:sym typeface="Calibri"/>
              </a:rPr>
              <a:t>Güvenlik:</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1100"/>
              <a:buFont typeface="Calibri"/>
              <a:buNone/>
            </a:pPr>
            <a:r>
              <a:rPr b="0" i="0" lang="en-US" sz="1100" u="none" cap="none" strike="noStrike">
                <a:solidFill>
                  <a:srgbClr val="FFFFFF"/>
                </a:solidFill>
                <a:latin typeface="Calibri"/>
                <a:ea typeface="Calibri"/>
                <a:cs typeface="Calibri"/>
                <a:sym typeface="Calibri"/>
              </a:rPr>
              <a:t>Açık / Kısıtlı</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0D4FF"/>
              </a:buClr>
              <a:buSzPts val="1100"/>
              <a:buFont typeface="Calibri"/>
              <a:buNone/>
            </a:pPr>
            <a:r>
              <a:rPr b="1" i="0" lang="en-US" sz="1100" u="none" cap="none" strike="noStrike">
                <a:solidFill>
                  <a:srgbClr val="00D4FF"/>
                </a:solidFill>
                <a:latin typeface="Calibri"/>
                <a:ea typeface="Calibri"/>
                <a:cs typeface="Calibri"/>
                <a:sym typeface="Calibri"/>
              </a:rPr>
              <a:t>Açıklama:</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B0C4D8"/>
              </a:buClr>
              <a:buSzPts val="1100"/>
              <a:buFont typeface="Calibri"/>
              <a:buNone/>
            </a:pPr>
            <a:r>
              <a:rPr b="0" i="0" lang="en-US" sz="1100" u="none" cap="none" strike="noStrike">
                <a:solidFill>
                  <a:srgbClr val="B0C4D8"/>
                </a:solidFill>
                <a:latin typeface="Calibri"/>
                <a:ea typeface="Calibri"/>
                <a:cs typeface="Calibri"/>
                <a:sym typeface="Calibri"/>
              </a:rPr>
              <a:t>Misafir, internet kısıtlı</a:t>
            </a:r>
            <a:endParaRPr b="0" i="0" sz="1100" u="none" cap="none" strike="noStrike">
              <a:solidFill>
                <a:schemeClr val="dk1"/>
              </a:solidFill>
              <a:latin typeface="Calibri"/>
              <a:ea typeface="Calibri"/>
              <a:cs typeface="Calibri"/>
              <a:sym typeface="Calibri"/>
            </a:endParaRPr>
          </a:p>
        </p:txBody>
      </p:sp>
      <p:sp>
        <p:nvSpPr>
          <p:cNvPr id="197" name="Google Shape;197;p9"/>
          <p:cNvSpPr/>
          <p:nvPr/>
        </p:nvSpPr>
        <p:spPr>
          <a:xfrm>
            <a:off x="365760" y="4069080"/>
            <a:ext cx="841248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0C4D8"/>
              </a:buClr>
              <a:buSzPts val="1200"/>
              <a:buFont typeface="Calibri"/>
              <a:buNone/>
            </a:pPr>
            <a:r>
              <a:rPr b="0" i="1" lang="en-US" sz="1200" u="none" cap="none" strike="noStrike">
                <a:solidFill>
                  <a:srgbClr val="B0C4D8"/>
                </a:solidFill>
                <a:latin typeface="Calibri"/>
                <a:ea typeface="Calibri"/>
                <a:cs typeface="Calibri"/>
                <a:sym typeface="Calibri"/>
              </a:rPr>
              <a:t>IEEE 802.11 standardı kullanılarak tüm erişim noktaları trunk bağlantılar üzerinden ilgili VLAN'larına yönlendirilmiştir.</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628"/>
        </a:solidFill>
      </p:bgPr>
    </p:bg>
    <p:spTree>
      <p:nvGrpSpPr>
        <p:cNvPr id="202" name="Shape 202"/>
        <p:cNvGrpSpPr/>
        <p:nvPr/>
      </p:nvGrpSpPr>
      <p:grpSpPr>
        <a:xfrm>
          <a:off x="0" y="0"/>
          <a:ext cx="0" cy="0"/>
          <a:chOff x="0" y="0"/>
          <a:chExt cx="0" cy="0"/>
        </a:xfrm>
      </p:grpSpPr>
      <p:sp>
        <p:nvSpPr>
          <p:cNvPr id="203" name="Google Shape;203;p10"/>
          <p:cNvSpPr/>
          <p:nvPr/>
        </p:nvSpPr>
        <p:spPr>
          <a:xfrm>
            <a:off x="0" y="0"/>
            <a:ext cx="109728" cy="5143500"/>
          </a:xfrm>
          <a:prstGeom prst="rect">
            <a:avLst/>
          </a:prstGeom>
          <a:solidFill>
            <a:srgbClr val="00D4FF"/>
          </a:solidFill>
          <a:ln cap="flat" cmpd="sng" w="12700">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10"/>
          <p:cNvSpPr/>
          <p:nvPr/>
        </p:nvSpPr>
        <p:spPr>
          <a:xfrm>
            <a:off x="365760" y="228600"/>
            <a:ext cx="841248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800"/>
              <a:buFont typeface="Calibri"/>
              <a:buNone/>
            </a:pPr>
            <a:r>
              <a:rPr b="1" i="0" lang="en-US" sz="2800" u="none" cap="none" strike="noStrike">
                <a:solidFill>
                  <a:srgbClr val="FFFFFF"/>
                </a:solidFill>
                <a:latin typeface="Calibri"/>
                <a:ea typeface="Calibri"/>
                <a:cs typeface="Calibri"/>
                <a:sym typeface="Calibri"/>
              </a:rPr>
              <a:t>Sonuç</a:t>
            </a:r>
            <a:endParaRPr b="0" i="0" sz="2800" u="none" cap="none" strike="noStrike">
              <a:solidFill>
                <a:schemeClr val="dk1"/>
              </a:solidFill>
              <a:latin typeface="Calibri"/>
              <a:ea typeface="Calibri"/>
              <a:cs typeface="Calibri"/>
              <a:sym typeface="Calibri"/>
            </a:endParaRPr>
          </a:p>
        </p:txBody>
      </p:sp>
      <p:sp>
        <p:nvSpPr>
          <p:cNvPr id="205" name="Google Shape;205;p10"/>
          <p:cNvSpPr/>
          <p:nvPr/>
        </p:nvSpPr>
        <p:spPr>
          <a:xfrm>
            <a:off x="365760" y="713232"/>
            <a:ext cx="8412480" cy="36576"/>
          </a:xfrm>
          <a:prstGeom prst="rect">
            <a:avLst/>
          </a:prstGeom>
          <a:solidFill>
            <a:srgbClr val="0088CC"/>
          </a:solidFill>
          <a:ln cap="flat" cmpd="sng" w="12700">
            <a:solidFill>
              <a:srgbClr val="0088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0"/>
          <p:cNvSpPr/>
          <p:nvPr/>
        </p:nvSpPr>
        <p:spPr>
          <a:xfrm>
            <a:off x="365760" y="868680"/>
            <a:ext cx="841248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0C4D8"/>
              </a:buClr>
              <a:buSzPts val="1300"/>
              <a:buFont typeface="Calibri"/>
              <a:buNone/>
            </a:pPr>
            <a:r>
              <a:rPr b="0" i="0" lang="en-US" sz="1300" u="none" cap="none" strike="noStrike">
                <a:solidFill>
                  <a:srgbClr val="B0C4D8"/>
                </a:solidFill>
                <a:latin typeface="Calibri"/>
                <a:ea typeface="Calibri"/>
                <a:cs typeface="Calibri"/>
                <a:sym typeface="Calibri"/>
              </a:rPr>
              <a:t>Bu proje kapsamında bir internet kafe için gerçekçi bir LAN mimarisi tasarlanmış ve Cisco Packet Tracer ortamında başarıyla simüle edilmiştir.</a:t>
            </a:r>
            <a:endParaRPr b="0" i="0" sz="1300" u="none" cap="none" strike="noStrike">
              <a:solidFill>
                <a:schemeClr val="dk1"/>
              </a:solidFill>
              <a:latin typeface="Calibri"/>
              <a:ea typeface="Calibri"/>
              <a:cs typeface="Calibri"/>
              <a:sym typeface="Calibri"/>
            </a:endParaRPr>
          </a:p>
        </p:txBody>
      </p:sp>
      <p:sp>
        <p:nvSpPr>
          <p:cNvPr id="207" name="Google Shape;207;p10"/>
          <p:cNvSpPr/>
          <p:nvPr/>
        </p:nvSpPr>
        <p:spPr>
          <a:xfrm>
            <a:off x="365760" y="1600200"/>
            <a:ext cx="4023360" cy="1097280"/>
          </a:xfrm>
          <a:prstGeom prst="rect">
            <a:avLst/>
          </a:prstGeom>
          <a:solidFill>
            <a:srgbClr val="1A3050"/>
          </a:solidFill>
          <a:ln cap="flat" cmpd="sng" w="12700">
            <a:solidFill>
              <a:srgbClr val="0088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10"/>
          <p:cNvSpPr/>
          <p:nvPr/>
        </p:nvSpPr>
        <p:spPr>
          <a:xfrm>
            <a:off x="365760" y="1600200"/>
            <a:ext cx="73152" cy="1097280"/>
          </a:xfrm>
          <a:prstGeom prst="rect">
            <a:avLst/>
          </a:prstGeom>
          <a:solidFill>
            <a:srgbClr val="00D4FF"/>
          </a:solidFill>
          <a:ln cap="flat" cmpd="sng" w="12700">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10"/>
          <p:cNvSpPr/>
          <p:nvPr/>
        </p:nvSpPr>
        <p:spPr>
          <a:xfrm>
            <a:off x="594360" y="1709928"/>
            <a:ext cx="365760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D4FF"/>
              </a:buClr>
              <a:buSzPts val="1400"/>
              <a:buFont typeface="Calibri"/>
              <a:buNone/>
            </a:pPr>
            <a:r>
              <a:rPr b="1" i="0" lang="en-US" sz="1400" u="none" cap="none" strike="noStrike">
                <a:solidFill>
                  <a:srgbClr val="00D4FF"/>
                </a:solidFill>
                <a:latin typeface="Calibri"/>
                <a:ea typeface="Calibri"/>
                <a:cs typeface="Calibri"/>
                <a:sym typeface="Calibri"/>
              </a:rPr>
              <a:t>✓ VLAN Segmentasyonu</a:t>
            </a:r>
            <a:endParaRPr b="0" i="0" sz="1400" u="none" cap="none" strike="noStrike">
              <a:solidFill>
                <a:schemeClr val="dk1"/>
              </a:solidFill>
              <a:latin typeface="Calibri"/>
              <a:ea typeface="Calibri"/>
              <a:cs typeface="Calibri"/>
              <a:sym typeface="Calibri"/>
            </a:endParaRPr>
          </a:p>
        </p:txBody>
      </p:sp>
      <p:sp>
        <p:nvSpPr>
          <p:cNvPr id="210" name="Google Shape;210;p10"/>
          <p:cNvSpPr/>
          <p:nvPr/>
        </p:nvSpPr>
        <p:spPr>
          <a:xfrm>
            <a:off x="594360" y="2075688"/>
            <a:ext cx="365760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0C4D8"/>
              </a:buClr>
              <a:buSzPts val="1200"/>
              <a:buFont typeface="Calibri"/>
              <a:buNone/>
            </a:pPr>
            <a:r>
              <a:rPr b="0" i="0" lang="en-US" sz="1200" u="none" cap="none" strike="noStrike">
                <a:solidFill>
                  <a:srgbClr val="B0C4D8"/>
                </a:solidFill>
                <a:latin typeface="Calibri"/>
                <a:ea typeface="Calibri"/>
                <a:cs typeface="Calibri"/>
                <a:sym typeface="Calibri"/>
              </a:rPr>
              <a:t>4 farklı kullanıcı grubu mantıksal olarak izole edildi</a:t>
            </a:r>
            <a:endParaRPr b="0" i="0" sz="1200" u="none" cap="none" strike="noStrike">
              <a:solidFill>
                <a:schemeClr val="dk1"/>
              </a:solidFill>
              <a:latin typeface="Calibri"/>
              <a:ea typeface="Calibri"/>
              <a:cs typeface="Calibri"/>
              <a:sym typeface="Calibri"/>
            </a:endParaRPr>
          </a:p>
        </p:txBody>
      </p:sp>
      <p:sp>
        <p:nvSpPr>
          <p:cNvPr id="211" name="Google Shape;211;p10"/>
          <p:cNvSpPr/>
          <p:nvPr/>
        </p:nvSpPr>
        <p:spPr>
          <a:xfrm>
            <a:off x="4754880" y="1600200"/>
            <a:ext cx="4023360" cy="1097280"/>
          </a:xfrm>
          <a:prstGeom prst="rect">
            <a:avLst/>
          </a:prstGeom>
          <a:solidFill>
            <a:srgbClr val="1A3050"/>
          </a:solidFill>
          <a:ln cap="flat" cmpd="sng" w="12700">
            <a:solidFill>
              <a:srgbClr val="0088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0"/>
          <p:cNvSpPr/>
          <p:nvPr/>
        </p:nvSpPr>
        <p:spPr>
          <a:xfrm>
            <a:off x="4754880" y="1600200"/>
            <a:ext cx="73152" cy="1097280"/>
          </a:xfrm>
          <a:prstGeom prst="rect">
            <a:avLst/>
          </a:prstGeom>
          <a:solidFill>
            <a:srgbClr val="00D4FF"/>
          </a:solidFill>
          <a:ln cap="flat" cmpd="sng" w="12700">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0"/>
          <p:cNvSpPr/>
          <p:nvPr/>
        </p:nvSpPr>
        <p:spPr>
          <a:xfrm>
            <a:off x="4983480" y="1709928"/>
            <a:ext cx="365760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D4FF"/>
              </a:buClr>
              <a:buSzPts val="1400"/>
              <a:buFont typeface="Calibri"/>
              <a:buNone/>
            </a:pPr>
            <a:r>
              <a:rPr b="1" i="0" lang="en-US" sz="1400" u="none" cap="none" strike="noStrike">
                <a:solidFill>
                  <a:srgbClr val="00D4FF"/>
                </a:solidFill>
                <a:latin typeface="Calibri"/>
                <a:ea typeface="Calibri"/>
                <a:cs typeface="Calibri"/>
                <a:sym typeface="Calibri"/>
              </a:rPr>
              <a:t>✓ Wi-Fi Desteği</a:t>
            </a:r>
            <a:endParaRPr b="0" i="0" sz="1400" u="none" cap="none" strike="noStrike">
              <a:solidFill>
                <a:schemeClr val="dk1"/>
              </a:solidFill>
              <a:latin typeface="Calibri"/>
              <a:ea typeface="Calibri"/>
              <a:cs typeface="Calibri"/>
              <a:sym typeface="Calibri"/>
            </a:endParaRPr>
          </a:p>
        </p:txBody>
      </p:sp>
      <p:sp>
        <p:nvSpPr>
          <p:cNvPr id="214" name="Google Shape;214;p10"/>
          <p:cNvSpPr/>
          <p:nvPr/>
        </p:nvSpPr>
        <p:spPr>
          <a:xfrm>
            <a:off x="4983480" y="2075688"/>
            <a:ext cx="365760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0C4D8"/>
              </a:buClr>
              <a:buSzPts val="1200"/>
              <a:buFont typeface="Calibri"/>
              <a:buNone/>
            </a:pPr>
            <a:r>
              <a:rPr b="0" i="0" lang="en-US" sz="1200" u="none" cap="none" strike="noStrike">
                <a:solidFill>
                  <a:srgbClr val="B0C4D8"/>
                </a:solidFill>
                <a:latin typeface="Calibri"/>
                <a:ea typeface="Calibri"/>
                <a:cs typeface="Calibri"/>
                <a:sym typeface="Calibri"/>
              </a:rPr>
              <a:t>Mobil kullanıcılara kablosuz ağ erişimi sağlandı</a:t>
            </a:r>
            <a:endParaRPr b="0" i="0" sz="1200" u="none" cap="none" strike="noStrike">
              <a:solidFill>
                <a:schemeClr val="dk1"/>
              </a:solidFill>
              <a:latin typeface="Calibri"/>
              <a:ea typeface="Calibri"/>
              <a:cs typeface="Calibri"/>
              <a:sym typeface="Calibri"/>
            </a:endParaRPr>
          </a:p>
        </p:txBody>
      </p:sp>
      <p:sp>
        <p:nvSpPr>
          <p:cNvPr id="215" name="Google Shape;215;p10"/>
          <p:cNvSpPr/>
          <p:nvPr/>
        </p:nvSpPr>
        <p:spPr>
          <a:xfrm>
            <a:off x="365760" y="4251960"/>
            <a:ext cx="8412480" cy="594360"/>
          </a:xfrm>
          <a:prstGeom prst="rect">
            <a:avLst/>
          </a:prstGeom>
          <a:solidFill>
            <a:srgbClr val="1A3050"/>
          </a:solidFill>
          <a:ln cap="flat" cmpd="sng" w="12700">
            <a:solidFill>
              <a:srgbClr val="0088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0"/>
          <p:cNvSpPr/>
          <p:nvPr/>
        </p:nvSpPr>
        <p:spPr>
          <a:xfrm>
            <a:off x="548640" y="4251960"/>
            <a:ext cx="8229600" cy="5943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D4FF"/>
              </a:buClr>
              <a:buSzPts val="1200"/>
              <a:buFont typeface="Calibri"/>
              <a:buNone/>
            </a:pPr>
            <a:r>
              <a:rPr b="1" i="0" lang="en-US" sz="1200" u="none" cap="none" strike="noStrike">
                <a:solidFill>
                  <a:srgbClr val="00D4FF"/>
                </a:solidFill>
                <a:latin typeface="Calibri"/>
                <a:ea typeface="Calibri"/>
                <a:cs typeface="Calibri"/>
                <a:sym typeface="Calibri"/>
              </a:rPr>
              <a:t>GitHub: </a:t>
            </a:r>
            <a:r>
              <a:rPr b="0" i="0" lang="en-US" sz="1200" u="none" cap="none" strike="noStrike">
                <a:solidFill>
                  <a:srgbClr val="FFFFFF"/>
                </a:solidFill>
                <a:latin typeface="Calibri"/>
                <a:ea typeface="Calibri"/>
                <a:cs typeface="Calibri"/>
                <a:sym typeface="Calibri"/>
              </a:rPr>
              <a:t>github.com/HuseyinEkiz/Internet-Kafe-LAN-Network-Tasarimi</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